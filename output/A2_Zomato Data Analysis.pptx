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66" r:id="rId5"/>
    <p:sldId id="263" r:id="rId6"/>
    <p:sldId id="267" r:id="rId7"/>
    <p:sldId id="268" r:id="rId8"/>
    <p:sldId id="269" r:id="rId9"/>
    <p:sldId id="271" r:id="rId10"/>
    <p:sldId id="274" r:id="rId11"/>
    <p:sldId id="273" r:id="rId12"/>
    <p:sldId id="260" r:id="rId13"/>
  </p:sldIdLst>
  <p:sldSz cx="18288000" cy="10287000"/>
  <p:notesSz cx="6858000" cy="9144000"/>
  <p:embeddedFontLst>
    <p:embeddedFont>
      <p:font typeface="Futura Display" panose="020B0504050904050C04"/>
      <p:regular r:id="rId17"/>
    </p:embeddedFont>
    <p:embeddedFont>
      <p:font typeface="Lexend Deca"/>
      <p:regular r:id="rId18"/>
    </p:embeddedFont>
    <p:embeddedFont>
      <p:font typeface="Calibri" panose="020F050202020403020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2" userDrawn="1">
          <p15:clr>
            <a:srgbClr val="A4A3A4"/>
          </p15:clr>
        </p15:guide>
        <p15:guide id="2" pos="28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135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232"/>
        <p:guide pos="28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github.com/asiya142005/DataScience_Project_Zomato_Data_Analysis" TargetMode="Externa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alphaModFix amt="60000"/>
          </a:blip>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60000"/>
          </a:blip>
          <a:stretch>
            <a:fillRect/>
          </a:stretch>
        </p:blipFill>
        <p:spPr>
          <a:xfrm>
            <a:off x="-1853565" y="-2323465"/>
            <a:ext cx="21984335" cy="14199870"/>
          </a:xfrm>
          <a:prstGeom prst="rect">
            <a:avLst/>
          </a:prstGeom>
        </p:spPr>
      </p:pic>
      <p:sp>
        <p:nvSpPr>
          <p:cNvPr id="4" name="Freeform 4"/>
          <p:cNvSpPr/>
          <p:nvPr/>
        </p:nvSpPr>
        <p:spPr>
          <a:xfrm>
            <a:off x="381000" y="266700"/>
            <a:ext cx="17480280" cy="3060065"/>
          </a:xfrm>
          <a:custGeom>
            <a:avLst/>
            <a:gdLst/>
            <a:ahLst/>
            <a:cxnLst/>
            <a:rect l="l" t="t" r="r" b="b"/>
            <a:pathLst>
              <a:path w="3655013" h="812800">
                <a:moveTo>
                  <a:pt x="24327" y="0"/>
                </a:moveTo>
                <a:lnTo>
                  <a:pt x="3630686" y="0"/>
                </a:lnTo>
                <a:cubicBezTo>
                  <a:pt x="3644121" y="0"/>
                  <a:pt x="3655013" y="10891"/>
                  <a:pt x="3655013" y="24327"/>
                </a:cubicBezTo>
                <a:lnTo>
                  <a:pt x="3655013" y="788473"/>
                </a:lnTo>
                <a:cubicBezTo>
                  <a:pt x="3655013" y="801909"/>
                  <a:pt x="3644121" y="812800"/>
                  <a:pt x="3630686" y="812800"/>
                </a:cubicBezTo>
                <a:lnTo>
                  <a:pt x="24327" y="812800"/>
                </a:lnTo>
                <a:cubicBezTo>
                  <a:pt x="10891" y="812800"/>
                  <a:pt x="0" y="801909"/>
                  <a:pt x="0" y="788473"/>
                </a:cubicBezTo>
                <a:lnTo>
                  <a:pt x="0" y="24327"/>
                </a:lnTo>
                <a:cubicBezTo>
                  <a:pt x="0" y="10891"/>
                  <a:pt x="10891" y="0"/>
                  <a:pt x="24327" y="0"/>
                </a:cubicBezTo>
                <a:close/>
              </a:path>
            </a:pathLst>
          </a:custGeom>
          <a:solidFill>
            <a:srgbClr val="31356E"/>
          </a:solidFill>
        </p:spPr>
      </p:sp>
      <p:sp>
        <p:nvSpPr>
          <p:cNvPr id="6" name="TextBox 6"/>
          <p:cNvSpPr txBox="1"/>
          <p:nvPr/>
        </p:nvSpPr>
        <p:spPr>
          <a:xfrm>
            <a:off x="1371600" y="266700"/>
            <a:ext cx="15125700" cy="2703830"/>
          </a:xfrm>
          <a:prstGeom prst="rect">
            <a:avLst/>
          </a:prstGeom>
        </p:spPr>
        <p:txBody>
          <a:bodyPr wrap="square" lIns="0" tIns="0" rIns="0" bIns="0" rtlCol="0" anchor="t">
            <a:noAutofit/>
          </a:bodyPr>
          <a:lstStyle/>
          <a:p>
            <a:pPr algn="l">
              <a:lnSpc>
                <a:spcPct val="10000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Zomato Data Analysis</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a:p>
            <a:pPr marL="571500" indent="-571500" algn="l">
              <a:lnSpc>
                <a:spcPct val="100000"/>
              </a:lnSpc>
              <a:buFont typeface="Wingdings" panose="05000000000000000000" charset="0"/>
              <a:buChar char="Ø"/>
            </a:pPr>
            <a:r>
              <a:rPr lang="en-US" altLang="en-US" sz="3200" b="1">
                <a:solidFill>
                  <a:srgbClr val="FFFFFF"/>
                </a:solidFill>
                <a:latin typeface="Calibri" panose="020F0502020204030204" charset="0"/>
                <a:ea typeface="Futura Display" panose="020B0504050904050C04"/>
                <a:cs typeface="Calibri" panose="020F0502020204030204" charset="0"/>
                <a:sym typeface="Futura Display" panose="020B0504050904050C04"/>
              </a:rPr>
              <a:t>Study how restaurants provide online delivery compared to offline services?</a:t>
            </a:r>
            <a:endParaRPr lang="en-US" altLang="en-US" sz="3200" b="1">
              <a:solidFill>
                <a:srgbClr val="FFFFFF"/>
              </a:solidFill>
              <a:latin typeface="Calibri" panose="020F0502020204030204" charset="0"/>
              <a:ea typeface="Futura Display" panose="020B0504050904050C04"/>
              <a:cs typeface="Calibri" panose="020F0502020204030204" charset="0"/>
              <a:sym typeface="Futura Display" panose="020B0504050904050C04"/>
            </a:endParaRPr>
          </a:p>
          <a:p>
            <a:pPr marL="571500" indent="-571500" algn="l">
              <a:lnSpc>
                <a:spcPct val="100000"/>
              </a:lnSpc>
              <a:buFont typeface="Wingdings" panose="05000000000000000000" charset="0"/>
              <a:buChar char="Ø"/>
            </a:pPr>
            <a:r>
              <a:rPr lang="en-US" altLang="en-US" sz="3200" b="1">
                <a:solidFill>
                  <a:srgbClr val="FFFFFF"/>
                </a:solidFill>
                <a:latin typeface="Calibri" panose="020F0502020204030204" charset="0"/>
                <a:ea typeface="Futura Display" panose="020B0504050904050C04"/>
                <a:cs typeface="Calibri" panose="020F0502020204030204" charset="0"/>
                <a:sym typeface="Futura Display" panose="020B0504050904050C04"/>
              </a:rPr>
              <a:t>Which types of restaurants are most favored by the general public?</a:t>
            </a:r>
            <a:endParaRPr lang="en-US" altLang="en-US" sz="3200" b="1">
              <a:solidFill>
                <a:srgbClr val="FFFFFF"/>
              </a:solidFill>
              <a:latin typeface="Calibri" panose="020F0502020204030204" charset="0"/>
              <a:ea typeface="Futura Display" panose="020B0504050904050C04"/>
              <a:cs typeface="Calibri" panose="020F0502020204030204" charset="0"/>
              <a:sym typeface="Futura Display" panose="020B0504050904050C04"/>
            </a:endParaRPr>
          </a:p>
          <a:p>
            <a:pPr marL="571500" indent="-571500" algn="l">
              <a:lnSpc>
                <a:spcPct val="100000"/>
              </a:lnSpc>
              <a:buFont typeface="Wingdings" panose="05000000000000000000" charset="0"/>
              <a:buChar char="Ø"/>
            </a:pPr>
            <a:r>
              <a:rPr lang="en-US" altLang="en-US" sz="3200" b="1">
                <a:solidFill>
                  <a:srgbClr val="FFFFFF"/>
                </a:solidFill>
                <a:latin typeface="Calibri" panose="020F0502020204030204" charset="0"/>
                <a:ea typeface="Futura Display" panose="020B0504050904050C04"/>
                <a:cs typeface="Calibri" panose="020F0502020204030204" charset="0"/>
                <a:sym typeface="Futura Display" panose="020B0504050904050C04"/>
              </a:rPr>
              <a:t>What price range do couples prefer for dining out?</a:t>
            </a:r>
            <a:endParaRPr lang="en-US" altLang="en-US" sz="3200" b="1">
              <a:solidFill>
                <a:srgbClr val="FFFFFF"/>
              </a:solidFill>
              <a:latin typeface="Calibri" panose="020F0502020204030204" charset="0"/>
              <a:ea typeface="Futura Display" panose="020B0504050904050C04"/>
              <a:cs typeface="Calibri" panose="020F0502020204030204" charset="0"/>
              <a:sym typeface="Futura Display" panose="020B0504050904050C04"/>
            </a:endParaRPr>
          </a:p>
        </p:txBody>
      </p:sp>
      <p:grpSp>
        <p:nvGrpSpPr>
          <p:cNvPr id="10" name="Group 9"/>
          <p:cNvGrpSpPr/>
          <p:nvPr/>
        </p:nvGrpSpPr>
        <p:grpSpPr>
          <a:xfrm>
            <a:off x="914400" y="4044950"/>
            <a:ext cx="16575405" cy="865975"/>
            <a:chOff x="1440" y="6060"/>
            <a:chExt cx="26071" cy="1658"/>
          </a:xfrm>
          <a:solidFill>
            <a:schemeClr val="accent5">
              <a:lumMod val="20000"/>
              <a:lumOff val="80000"/>
            </a:schemeClr>
          </a:solidFill>
        </p:grpSpPr>
        <p:sp>
          <p:nvSpPr>
            <p:cNvPr id="5" name="TextBox 5"/>
            <p:cNvSpPr txBox="1"/>
            <p:nvPr/>
          </p:nvSpPr>
          <p:spPr>
            <a:xfrm>
              <a:off x="1440" y="6060"/>
              <a:ext cx="26071" cy="1634"/>
            </a:xfrm>
            <a:prstGeom prst="rect">
              <a:avLst/>
            </a:prstGeom>
            <a:grpFill/>
            <a:ln w="12700"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lIns="50800" tIns="50800" rIns="50800" bIns="50800" rtlCol="0" anchor="ctr"/>
            <a:lstStyle/>
            <a:p>
              <a:pPr algn="ctr">
                <a:lnSpc>
                  <a:spcPts val="2660"/>
                </a:lnSpc>
                <a:spcBef>
                  <a:spcPct val="0"/>
                </a:spcBef>
              </a:pPr>
              <a:endParaRPr>
                <a:solidFill>
                  <a:srgbClr val="FF0000"/>
                </a:solidFill>
              </a:endParaRPr>
            </a:p>
          </p:txBody>
        </p:sp>
        <p:sp>
          <p:nvSpPr>
            <p:cNvPr id="9" name="Text Box 8"/>
            <p:cNvSpPr txBox="1"/>
            <p:nvPr/>
          </p:nvSpPr>
          <p:spPr>
            <a:xfrm>
              <a:off x="1897" y="6071"/>
              <a:ext cx="18215" cy="1647"/>
            </a:xfrm>
            <a:prstGeom prst="rect">
              <a:avLst/>
            </a:prstGeom>
            <a:noFill/>
            <a:extLst>
              <a:ext uri="{909E8E84-426E-40DD-AFC4-6F175D3DCCD1}">
                <a14:hiddenFill xmlns:a14="http://schemas.microsoft.com/office/drawing/2010/main">
                  <a:grpFill/>
                </a14:hiddenFill>
              </a:ext>
            </a:extLst>
          </p:spPr>
          <p:txBody>
            <a:bodyPr wrap="square" rtlCol="0">
              <a:spAutoFit/>
            </a:bodyPr>
            <a:p>
              <a:r>
                <a:rPr lang="en-US" sz="2800" b="1">
                  <a:solidFill>
                    <a:schemeClr val="tx2">
                      <a:lumMod val="75000"/>
                    </a:schemeClr>
                  </a:solidFill>
                  <a:latin typeface="Calibri" panose="020F0502020204030204" charset="0"/>
                  <a:cs typeface="Calibri" panose="020F0502020204030204" charset="0"/>
                </a:rPr>
                <a:t>706_Siddhi Bhoir</a:t>
              </a:r>
              <a:endParaRPr lang="en-US" sz="2800" b="1">
                <a:solidFill>
                  <a:schemeClr val="tx2">
                    <a:lumMod val="75000"/>
                  </a:schemeClr>
                </a:solidFill>
                <a:latin typeface="Calibri" panose="020F0502020204030204" charset="0"/>
                <a:cs typeface="Calibri" panose="020F0502020204030204" charset="0"/>
              </a:endParaRPr>
            </a:p>
            <a:p>
              <a:r>
                <a:rPr lang="en-US" sz="2200">
                  <a:solidFill>
                    <a:schemeClr val="tx2">
                      <a:lumMod val="75000"/>
                    </a:schemeClr>
                  </a:solidFill>
                  <a:latin typeface="Calibri" panose="020F0502020204030204" charset="0"/>
                  <a:cs typeface="Calibri" panose="020F0502020204030204" charset="0"/>
                </a:rPr>
                <a:t>Data Architecture - </a:t>
              </a:r>
              <a:r>
                <a:rPr lang="en-US" altLang="en-US" sz="2200">
                  <a:solidFill>
                    <a:schemeClr val="tx2">
                      <a:lumMod val="75000"/>
                    </a:schemeClr>
                  </a:solidFill>
                  <a:latin typeface="Calibri" panose="020F0502020204030204" charset="0"/>
                  <a:cs typeface="Calibri" panose="020F0502020204030204" charset="0"/>
                </a:rPr>
                <a:t>Explore Dataset, Data cleaning, handling missing values, &amp; merging.</a:t>
              </a:r>
              <a:endParaRPr lang="en-US" altLang="en-US" sz="2200">
                <a:solidFill>
                  <a:schemeClr val="tx2">
                    <a:lumMod val="75000"/>
                  </a:schemeClr>
                </a:solidFill>
                <a:latin typeface="Calibri" panose="020F0502020204030204" charset="0"/>
                <a:cs typeface="Calibri" panose="020F0502020204030204" charset="0"/>
              </a:endParaRPr>
            </a:p>
          </p:txBody>
        </p:sp>
      </p:grpSp>
      <p:grpSp>
        <p:nvGrpSpPr>
          <p:cNvPr id="11" name="Group 10"/>
          <p:cNvGrpSpPr/>
          <p:nvPr/>
        </p:nvGrpSpPr>
        <p:grpSpPr>
          <a:xfrm>
            <a:off x="915670" y="5131435"/>
            <a:ext cx="16555085" cy="894080"/>
            <a:chOff x="1440" y="6060"/>
            <a:chExt cx="26071" cy="1634"/>
          </a:xfrm>
          <a:solidFill>
            <a:schemeClr val="accent5">
              <a:lumMod val="20000"/>
              <a:lumOff val="80000"/>
            </a:schemeClr>
          </a:solidFill>
        </p:grpSpPr>
        <p:sp>
          <p:nvSpPr>
            <p:cNvPr id="12" name="TextBox 5"/>
            <p:cNvSpPr txBox="1"/>
            <p:nvPr/>
          </p:nvSpPr>
          <p:spPr>
            <a:xfrm>
              <a:off x="1440" y="6060"/>
              <a:ext cx="26071" cy="1634"/>
            </a:xfrm>
            <a:prstGeom prst="rect">
              <a:avLst/>
            </a:prstGeom>
            <a:grpFill/>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lIns="50800" tIns="50800" rIns="50800" bIns="50800" rtlCol="0" anchor="ctr"/>
            <a:lstStyle/>
            <a:p>
              <a:pPr algn="ctr">
                <a:lnSpc>
                  <a:spcPts val="2660"/>
                </a:lnSpc>
                <a:spcBef>
                  <a:spcPct val="0"/>
                </a:spcBef>
              </a:pPr>
              <a:endParaRPr>
                <a:solidFill>
                  <a:srgbClr val="FF0000"/>
                </a:solidFill>
              </a:endParaRPr>
            </a:p>
          </p:txBody>
        </p:sp>
        <p:sp>
          <p:nvSpPr>
            <p:cNvPr id="13" name="Text Box 12"/>
            <p:cNvSpPr txBox="1"/>
            <p:nvPr/>
          </p:nvSpPr>
          <p:spPr>
            <a:xfrm>
              <a:off x="1920" y="6082"/>
              <a:ext cx="18215" cy="1572"/>
            </a:xfrm>
            <a:prstGeom prst="rect">
              <a:avLst/>
            </a:prstGeom>
            <a:noFill/>
            <a:extLst>
              <a:ext uri="{909E8E84-426E-40DD-AFC4-6F175D3DCCD1}">
                <a14:hiddenFill xmlns:a14="http://schemas.microsoft.com/office/drawing/2010/main">
                  <a:grpFill/>
                </a14:hiddenFill>
              </a:ext>
            </a:extLst>
          </p:spPr>
          <p:txBody>
            <a:bodyPr wrap="square" rtlCol="0">
              <a:spAutoFit/>
            </a:bodyPr>
            <a:p>
              <a:r>
                <a:rPr lang="en-US" sz="2800" b="1">
                  <a:solidFill>
                    <a:schemeClr val="tx2">
                      <a:lumMod val="75000"/>
                    </a:schemeClr>
                  </a:solidFill>
                  <a:latin typeface="Calibri" panose="020F0502020204030204" charset="0"/>
                  <a:cs typeface="Calibri" panose="020F0502020204030204" charset="0"/>
                </a:rPr>
                <a:t>707_Roshan Bhuvad</a:t>
              </a:r>
              <a:endParaRPr lang="en-US" sz="2800" b="1">
                <a:solidFill>
                  <a:schemeClr val="tx2">
                    <a:lumMod val="75000"/>
                  </a:schemeClr>
                </a:solidFill>
                <a:latin typeface="Calibri" panose="020F0502020204030204" charset="0"/>
                <a:cs typeface="Calibri" panose="020F0502020204030204" charset="0"/>
              </a:endParaRPr>
            </a:p>
            <a:p>
              <a:r>
                <a:rPr lang="en-US" altLang="en-US" sz="2200">
                  <a:solidFill>
                    <a:schemeClr val="tx2">
                      <a:lumMod val="75000"/>
                    </a:schemeClr>
                  </a:solidFill>
                  <a:latin typeface="Calibri" panose="020F0502020204030204" charset="0"/>
                  <a:cs typeface="Calibri" panose="020F0502020204030204" charset="0"/>
                </a:rPr>
                <a:t>EDA Analyst </a:t>
              </a:r>
              <a:r>
                <a:rPr lang="en-US" sz="2200">
                  <a:solidFill>
                    <a:schemeClr val="tx2">
                      <a:lumMod val="75000"/>
                    </a:schemeClr>
                  </a:solidFill>
                  <a:latin typeface="Calibri" panose="020F0502020204030204" charset="0"/>
                  <a:cs typeface="Calibri" panose="020F0502020204030204" charset="0"/>
                </a:rPr>
                <a:t>- </a:t>
              </a:r>
              <a:r>
                <a:rPr lang="en-US" altLang="en-US" sz="2200">
                  <a:solidFill>
                    <a:schemeClr val="tx2">
                      <a:lumMod val="75000"/>
                    </a:schemeClr>
                  </a:solidFill>
                  <a:latin typeface="Calibri" panose="020F0502020204030204" charset="0"/>
                  <a:cs typeface="Calibri" panose="020F0502020204030204" charset="0"/>
                </a:rPr>
                <a:t>Statistical distributions &amp; outlier detection.</a:t>
              </a:r>
              <a:endParaRPr lang="en-US" altLang="en-US" sz="2200">
                <a:solidFill>
                  <a:schemeClr val="tx2">
                    <a:lumMod val="75000"/>
                  </a:schemeClr>
                </a:solidFill>
                <a:latin typeface="Calibri" panose="020F0502020204030204" charset="0"/>
                <a:cs typeface="Calibri" panose="020F0502020204030204" charset="0"/>
              </a:endParaRPr>
            </a:p>
          </p:txBody>
        </p:sp>
      </p:grpSp>
      <p:grpSp>
        <p:nvGrpSpPr>
          <p:cNvPr id="14" name="Group 13"/>
          <p:cNvGrpSpPr/>
          <p:nvPr/>
        </p:nvGrpSpPr>
        <p:grpSpPr>
          <a:xfrm>
            <a:off x="914400" y="6281420"/>
            <a:ext cx="16555085" cy="865525"/>
            <a:chOff x="1440" y="6060"/>
            <a:chExt cx="26071" cy="1455"/>
          </a:xfrm>
          <a:solidFill>
            <a:schemeClr val="accent5">
              <a:lumMod val="20000"/>
              <a:lumOff val="80000"/>
            </a:schemeClr>
          </a:solidFill>
        </p:grpSpPr>
        <p:sp>
          <p:nvSpPr>
            <p:cNvPr id="15" name="TextBox 5"/>
            <p:cNvSpPr txBox="1"/>
            <p:nvPr/>
          </p:nvSpPr>
          <p:spPr>
            <a:xfrm>
              <a:off x="1440" y="6060"/>
              <a:ext cx="26071" cy="1446"/>
            </a:xfrm>
            <a:prstGeom prst="rect">
              <a:avLst/>
            </a:prstGeom>
            <a:grpFill/>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lIns="50800" tIns="50800" rIns="50800" bIns="50800" rtlCol="0" anchor="ctr"/>
            <a:lstStyle/>
            <a:p>
              <a:pPr algn="ctr">
                <a:lnSpc>
                  <a:spcPts val="2660"/>
                </a:lnSpc>
                <a:spcBef>
                  <a:spcPct val="0"/>
                </a:spcBef>
              </a:pPr>
              <a:endParaRPr>
                <a:solidFill>
                  <a:srgbClr val="FF0000"/>
                </a:solidFill>
              </a:endParaRPr>
            </a:p>
          </p:txBody>
        </p:sp>
        <p:sp>
          <p:nvSpPr>
            <p:cNvPr id="16" name="Text Box 15"/>
            <p:cNvSpPr txBox="1"/>
            <p:nvPr/>
          </p:nvSpPr>
          <p:spPr>
            <a:xfrm>
              <a:off x="1920" y="6069"/>
              <a:ext cx="18215" cy="1446"/>
            </a:xfrm>
            <a:prstGeom prst="rect">
              <a:avLst/>
            </a:prstGeom>
            <a:noFill/>
            <a:extLst>
              <a:ext uri="{909E8E84-426E-40DD-AFC4-6F175D3DCCD1}">
                <a14:hiddenFill xmlns:a14="http://schemas.microsoft.com/office/drawing/2010/main">
                  <a:grpFill/>
                </a14:hiddenFill>
              </a:ext>
            </a:extLst>
          </p:spPr>
          <p:txBody>
            <a:bodyPr wrap="square" rtlCol="0">
              <a:spAutoFit/>
            </a:bodyPr>
            <a:p>
              <a:r>
                <a:rPr lang="en-US" sz="2800" b="1">
                  <a:solidFill>
                    <a:schemeClr val="tx2">
                      <a:lumMod val="75000"/>
                    </a:schemeClr>
                  </a:solidFill>
                  <a:latin typeface="Calibri" panose="020F0502020204030204" charset="0"/>
                  <a:cs typeface="Calibri" panose="020F0502020204030204" charset="0"/>
                </a:rPr>
                <a:t>708_Snehal Bolke</a:t>
              </a:r>
              <a:endParaRPr lang="en-US" sz="2800" b="1">
                <a:solidFill>
                  <a:schemeClr val="tx2">
                    <a:lumMod val="75000"/>
                  </a:schemeClr>
                </a:solidFill>
                <a:latin typeface="Calibri" panose="020F0502020204030204" charset="0"/>
                <a:cs typeface="Calibri" panose="020F0502020204030204" charset="0"/>
              </a:endParaRPr>
            </a:p>
            <a:p>
              <a:r>
                <a:rPr lang="en-US" altLang="en-US" sz="2200">
                  <a:solidFill>
                    <a:schemeClr val="tx2">
                      <a:lumMod val="75000"/>
                    </a:schemeClr>
                  </a:solidFill>
                  <a:latin typeface="Calibri" panose="020F0502020204030204" charset="0"/>
                  <a:cs typeface="Calibri" panose="020F0502020204030204" charset="0"/>
                </a:rPr>
                <a:t>Feature Engineer </a:t>
              </a:r>
              <a:r>
                <a:rPr lang="en-US" sz="2200">
                  <a:solidFill>
                    <a:schemeClr val="tx2">
                      <a:lumMod val="75000"/>
                    </a:schemeClr>
                  </a:solidFill>
                  <a:latin typeface="Calibri" panose="020F0502020204030204" charset="0"/>
                  <a:cs typeface="Calibri" panose="020F0502020204030204" charset="0"/>
                </a:rPr>
                <a:t>- </a:t>
              </a:r>
              <a:r>
                <a:rPr lang="en-US" altLang="en-US" sz="2200">
                  <a:solidFill>
                    <a:schemeClr val="tx2">
                      <a:lumMod val="75000"/>
                    </a:schemeClr>
                  </a:solidFill>
                  <a:latin typeface="Calibri" panose="020F0502020204030204" charset="0"/>
                  <a:cs typeface="Calibri" panose="020F0502020204030204" charset="0"/>
                </a:rPr>
                <a:t>Creating new variables &amp; correlation analysis.</a:t>
              </a:r>
              <a:endParaRPr lang="en-US" altLang="en-US" sz="2200">
                <a:solidFill>
                  <a:schemeClr val="tx2">
                    <a:lumMod val="75000"/>
                  </a:schemeClr>
                </a:solidFill>
                <a:latin typeface="Calibri" panose="020F0502020204030204" charset="0"/>
                <a:cs typeface="Calibri" panose="020F0502020204030204" charset="0"/>
              </a:endParaRPr>
            </a:p>
          </p:txBody>
        </p:sp>
      </p:grpSp>
      <p:grpSp>
        <p:nvGrpSpPr>
          <p:cNvPr id="17" name="Group 16"/>
          <p:cNvGrpSpPr/>
          <p:nvPr/>
        </p:nvGrpSpPr>
        <p:grpSpPr>
          <a:xfrm>
            <a:off x="915035" y="7376160"/>
            <a:ext cx="16555085" cy="962025"/>
            <a:chOff x="1440" y="6060"/>
            <a:chExt cx="26071" cy="1634"/>
          </a:xfrm>
          <a:solidFill>
            <a:schemeClr val="accent5">
              <a:lumMod val="20000"/>
              <a:lumOff val="80000"/>
            </a:schemeClr>
          </a:solidFill>
        </p:grpSpPr>
        <p:sp>
          <p:nvSpPr>
            <p:cNvPr id="18" name="TextBox 5"/>
            <p:cNvSpPr txBox="1"/>
            <p:nvPr/>
          </p:nvSpPr>
          <p:spPr>
            <a:xfrm>
              <a:off x="1440" y="6060"/>
              <a:ext cx="26071" cy="1634"/>
            </a:xfrm>
            <a:prstGeom prst="rect">
              <a:avLst/>
            </a:prstGeom>
            <a:grpFill/>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lIns="50800" tIns="50800" rIns="50800" bIns="50800" rtlCol="0" anchor="ctr"/>
            <a:lstStyle/>
            <a:p>
              <a:pPr algn="ctr">
                <a:lnSpc>
                  <a:spcPts val="2660"/>
                </a:lnSpc>
                <a:spcBef>
                  <a:spcPct val="0"/>
                </a:spcBef>
              </a:pPr>
              <a:endParaRPr>
                <a:solidFill>
                  <a:srgbClr val="FF0000"/>
                </a:solidFill>
              </a:endParaRPr>
            </a:p>
          </p:txBody>
        </p:sp>
        <p:sp>
          <p:nvSpPr>
            <p:cNvPr id="19" name="Text Box 18"/>
            <p:cNvSpPr txBox="1"/>
            <p:nvPr/>
          </p:nvSpPr>
          <p:spPr>
            <a:xfrm>
              <a:off x="1920" y="6180"/>
              <a:ext cx="18215" cy="1461"/>
            </a:xfrm>
            <a:prstGeom prst="rect">
              <a:avLst/>
            </a:prstGeom>
            <a:noFill/>
            <a:extLst>
              <a:ext uri="{909E8E84-426E-40DD-AFC4-6F175D3DCCD1}">
                <a14:hiddenFill xmlns:a14="http://schemas.microsoft.com/office/drawing/2010/main">
                  <a:grpFill/>
                </a14:hiddenFill>
              </a:ext>
            </a:extLst>
          </p:spPr>
          <p:txBody>
            <a:bodyPr wrap="square" rtlCol="0">
              <a:spAutoFit/>
            </a:bodyPr>
            <a:p>
              <a:r>
                <a:rPr lang="en-US" sz="2800" b="1">
                  <a:solidFill>
                    <a:schemeClr val="tx2">
                      <a:lumMod val="75000"/>
                    </a:schemeClr>
                  </a:solidFill>
                  <a:latin typeface="Calibri" panose="020F0502020204030204" charset="0"/>
                  <a:cs typeface="Calibri" panose="020F0502020204030204" charset="0"/>
                </a:rPr>
                <a:t>709_Asiya Charolia</a:t>
              </a:r>
              <a:endParaRPr lang="en-US" sz="2800" b="1">
                <a:solidFill>
                  <a:schemeClr val="tx2">
                    <a:lumMod val="75000"/>
                  </a:schemeClr>
                </a:solidFill>
                <a:latin typeface="Calibri" panose="020F0502020204030204" charset="0"/>
                <a:cs typeface="Calibri" panose="020F0502020204030204" charset="0"/>
              </a:endParaRPr>
            </a:p>
            <a:p>
              <a:r>
                <a:rPr lang="en-US" altLang="en-US" sz="2200">
                  <a:solidFill>
                    <a:schemeClr val="tx2">
                      <a:lumMod val="75000"/>
                    </a:schemeClr>
                  </a:solidFill>
                  <a:latin typeface="Calibri" panose="020F0502020204030204" charset="0"/>
                  <a:cs typeface="Calibri" panose="020F0502020204030204" charset="0"/>
                </a:rPr>
                <a:t>Modeler/Predictor</a:t>
              </a:r>
              <a:r>
                <a:rPr lang="en-US" sz="2200">
                  <a:solidFill>
                    <a:schemeClr val="tx2">
                      <a:lumMod val="75000"/>
                    </a:schemeClr>
                  </a:solidFill>
                  <a:latin typeface="Calibri" panose="020F0502020204030204" charset="0"/>
                  <a:cs typeface="Calibri" panose="020F0502020204030204" charset="0"/>
                </a:rPr>
                <a:t> - </a:t>
              </a:r>
              <a:r>
                <a:rPr lang="en-US" altLang="en-US" sz="2200">
                  <a:solidFill>
                    <a:schemeClr val="tx2">
                      <a:lumMod val="75000"/>
                    </a:schemeClr>
                  </a:solidFill>
                  <a:latin typeface="Calibri" panose="020F0502020204030204" charset="0"/>
                  <a:cs typeface="Calibri" panose="020F0502020204030204" charset="0"/>
                </a:rPr>
                <a:t>Running the core ML or statistical models.</a:t>
              </a:r>
              <a:endParaRPr lang="en-US" altLang="en-US" sz="2200">
                <a:solidFill>
                  <a:schemeClr val="tx2">
                    <a:lumMod val="75000"/>
                  </a:schemeClr>
                </a:solidFill>
                <a:latin typeface="Calibri" panose="020F0502020204030204" charset="0"/>
                <a:cs typeface="Calibri" panose="020F0502020204030204" charset="0"/>
              </a:endParaRPr>
            </a:p>
          </p:txBody>
        </p:sp>
      </p:grpSp>
      <p:grpSp>
        <p:nvGrpSpPr>
          <p:cNvPr id="20" name="Group 19"/>
          <p:cNvGrpSpPr/>
          <p:nvPr/>
        </p:nvGrpSpPr>
        <p:grpSpPr>
          <a:xfrm>
            <a:off x="934720" y="8616315"/>
            <a:ext cx="16555085" cy="954405"/>
            <a:chOff x="1470" y="5828"/>
            <a:chExt cx="26071" cy="1634"/>
          </a:xfrm>
          <a:solidFill>
            <a:schemeClr val="accent5">
              <a:lumMod val="20000"/>
              <a:lumOff val="80000"/>
            </a:schemeClr>
          </a:solidFill>
        </p:grpSpPr>
        <p:sp>
          <p:nvSpPr>
            <p:cNvPr id="21" name="TextBox 5"/>
            <p:cNvSpPr txBox="1"/>
            <p:nvPr/>
          </p:nvSpPr>
          <p:spPr>
            <a:xfrm>
              <a:off x="1470" y="5828"/>
              <a:ext cx="26071" cy="1634"/>
            </a:xfrm>
            <a:prstGeom prst="rect">
              <a:avLst/>
            </a:prstGeom>
            <a:grpFill/>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lIns="50800" tIns="50800" rIns="50800" bIns="50800" rtlCol="0" anchor="ctr"/>
            <a:lstStyle/>
            <a:p>
              <a:pPr algn="ctr">
                <a:lnSpc>
                  <a:spcPts val="2660"/>
                </a:lnSpc>
                <a:spcBef>
                  <a:spcPct val="0"/>
                </a:spcBef>
              </a:pPr>
              <a:endParaRPr>
                <a:solidFill>
                  <a:srgbClr val="FF0000"/>
                </a:solidFill>
              </a:endParaRPr>
            </a:p>
          </p:txBody>
        </p:sp>
        <p:sp>
          <p:nvSpPr>
            <p:cNvPr id="22" name="Text Box 21"/>
            <p:cNvSpPr txBox="1"/>
            <p:nvPr/>
          </p:nvSpPr>
          <p:spPr>
            <a:xfrm>
              <a:off x="1920" y="5883"/>
              <a:ext cx="18215" cy="1473"/>
            </a:xfrm>
            <a:prstGeom prst="rect">
              <a:avLst/>
            </a:prstGeom>
            <a:noFill/>
            <a:extLst>
              <a:ext uri="{909E8E84-426E-40DD-AFC4-6F175D3DCCD1}">
                <a14:hiddenFill xmlns:a14="http://schemas.microsoft.com/office/drawing/2010/main">
                  <a:grpFill/>
                </a14:hiddenFill>
              </a:ext>
            </a:extLst>
          </p:spPr>
          <p:txBody>
            <a:bodyPr wrap="square" rtlCol="0">
              <a:spAutoFit/>
            </a:bodyPr>
            <a:p>
              <a:r>
                <a:rPr lang="en-US" sz="2800" b="1">
                  <a:solidFill>
                    <a:schemeClr val="tx2">
                      <a:lumMod val="75000"/>
                    </a:schemeClr>
                  </a:solidFill>
                  <a:latin typeface="Calibri" panose="020F0502020204030204" charset="0"/>
                  <a:cs typeface="Calibri" panose="020F0502020204030204" charset="0"/>
                </a:rPr>
                <a:t>710_Shantanu Chavan</a:t>
              </a:r>
              <a:endParaRPr lang="en-US" sz="2800" b="1">
                <a:solidFill>
                  <a:schemeClr val="tx2">
                    <a:lumMod val="75000"/>
                  </a:schemeClr>
                </a:solidFill>
                <a:latin typeface="Calibri" panose="020F0502020204030204" charset="0"/>
                <a:cs typeface="Calibri" panose="020F0502020204030204" charset="0"/>
              </a:endParaRPr>
            </a:p>
            <a:p>
              <a:r>
                <a:rPr lang="en-US" altLang="en-US" sz="2200">
                  <a:solidFill>
                    <a:schemeClr val="tx2">
                      <a:lumMod val="75000"/>
                    </a:schemeClr>
                  </a:solidFill>
                  <a:latin typeface="Calibri" panose="020F0502020204030204" charset="0"/>
                  <a:cs typeface="Calibri" panose="020F0502020204030204" charset="0"/>
                </a:rPr>
                <a:t>Insights Lead </a:t>
              </a:r>
              <a:r>
                <a:rPr lang="en-US" sz="2200">
                  <a:solidFill>
                    <a:schemeClr val="tx2">
                      <a:lumMod val="75000"/>
                    </a:schemeClr>
                  </a:solidFill>
                  <a:latin typeface="Calibri" panose="020F0502020204030204" charset="0"/>
                  <a:cs typeface="Calibri" panose="020F0502020204030204" charset="0"/>
                </a:rPr>
                <a:t>- </a:t>
              </a:r>
              <a:r>
                <a:rPr lang="en-US" altLang="en-US" sz="2200">
                  <a:solidFill>
                    <a:schemeClr val="tx2">
                      <a:lumMod val="75000"/>
                    </a:schemeClr>
                  </a:solidFill>
                  <a:latin typeface="Calibri" panose="020F0502020204030204" charset="0"/>
                  <a:cs typeface="Calibri" panose="020F0502020204030204" charset="0"/>
                </a:rPr>
                <a:t>Model evaluation &amp; R Markdown/Shiny report.</a:t>
              </a:r>
              <a:endParaRPr lang="en-US" altLang="en-US" sz="2200">
                <a:solidFill>
                  <a:schemeClr val="tx2">
                    <a:lumMod val="75000"/>
                  </a:schemeClr>
                </a:solidFill>
                <a:latin typeface="Calibri" panose="020F0502020204030204" charset="0"/>
                <a:cs typeface="Calibri" panose="020F0502020204030204" charset="0"/>
              </a:endParaRPr>
            </a:p>
          </p:txBody>
        </p:sp>
      </p:grpSp>
      <p:sp>
        <p:nvSpPr>
          <p:cNvPr id="23" name="Text Box 22"/>
          <p:cNvSpPr txBox="1"/>
          <p:nvPr/>
        </p:nvSpPr>
        <p:spPr>
          <a:xfrm>
            <a:off x="762000" y="3399790"/>
            <a:ext cx="4956175" cy="477520"/>
          </a:xfrm>
          <a:prstGeom prst="rect">
            <a:avLst/>
          </a:prstGeom>
          <a:noFill/>
          <a:ln>
            <a:noFill/>
          </a:ln>
        </p:spPr>
        <p:txBody>
          <a:bodyPr wrap="square" rtlCol="0">
            <a:noAutofit/>
          </a:bodyPr>
          <a:p>
            <a:r>
              <a:rPr lang="en-US" sz="2800" b="1">
                <a:solidFill>
                  <a:schemeClr val="tx2">
                    <a:lumMod val="75000"/>
                  </a:schemeClr>
                </a:solidFill>
                <a:latin typeface="Calibri" panose="020F0502020204030204" charset="0"/>
                <a:cs typeface="Calibri" panose="020F0502020204030204" charset="0"/>
                <a:sym typeface="+mn-ea"/>
              </a:rPr>
              <a:t>- Group A2 Members &amp; Roles</a:t>
            </a:r>
            <a:endParaRPr lang="en-US" sz="2800" b="1">
              <a:solidFill>
                <a:schemeClr val="tx2">
                  <a:lumMod val="75000"/>
                </a:schemeClr>
              </a:solidFill>
              <a:latin typeface="Calibri" panose="020F0502020204030204" charset="0"/>
              <a:cs typeface="Calibri" panose="020F0502020204030204" charset="0"/>
            </a:endParaRPr>
          </a:p>
          <a:p>
            <a:endParaRPr lang="en-US" sz="2800" b="1">
              <a:solidFill>
                <a:schemeClr val="tx2">
                  <a:lumMod val="75000"/>
                </a:schemeClr>
              </a:solidFill>
              <a:latin typeface="Calibri" panose="020F0502020204030204" charset="0"/>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381980" cy="1812925"/>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3048000" y="266700"/>
            <a:ext cx="12545060" cy="1431925"/>
          </a:xfrm>
          <a:prstGeom prst="rect">
            <a:avLst/>
          </a:prstGeom>
        </p:spPr>
        <p:txBody>
          <a:bodyPr wrap="square" lIns="0" tIns="0" rIns="0" bIns="0" rtlCol="0" anchor="t">
            <a:sp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The Business Problem</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457200" y="2015490"/>
            <a:ext cx="17244060" cy="1897380"/>
          </a:xfrm>
          <a:prstGeom prst="rect">
            <a:avLst/>
          </a:prstGeom>
        </p:spPr>
        <p:txBody>
          <a:bodyPr wrap="square" lIns="0" tIns="0" rIns="0" bIns="0" rtlCol="0" anchor="t">
            <a:noAutofit/>
          </a:bodyPr>
          <a:lstStyle/>
          <a:p>
            <a:pPr algn="l">
              <a:lnSpc>
                <a:spcPts val="5275"/>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Scenario Overview :</a:t>
            </a:r>
            <a:endParaRPr lang="en-US" altLang="en-US" sz="32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a:solidFill>
                  <a:schemeClr val="tx2"/>
                </a:solidFill>
                <a:latin typeface="Calibri" panose="020F0502020204030204" charset="0"/>
                <a:ea typeface="Lexend Deca"/>
                <a:cs typeface="Calibri" panose="020F0502020204030204" charset="0"/>
                <a:sym typeface="Lexend Deca"/>
              </a:rPr>
              <a:t>Food delivery platforms like Zomato operate in a highly competitive market where understanding customer dining behavior is critical for both platform growth and restaurant success. Restaurants must decide how to balance online delivery services with offline dining experiences while also aligning pricing and cuisine offerings with customer expectations.</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
        <p:nvSpPr>
          <p:cNvPr id="13" name="Text Box 12"/>
          <p:cNvSpPr txBox="1"/>
          <p:nvPr/>
        </p:nvSpPr>
        <p:spPr>
          <a:xfrm>
            <a:off x="457200" y="4000500"/>
            <a:ext cx="3075305" cy="465455"/>
          </a:xfrm>
          <a:prstGeom prst="rect">
            <a:avLst/>
          </a:prstGeom>
          <a:noFill/>
          <a:ln>
            <a:noFill/>
          </a:ln>
        </p:spPr>
        <p:txBody>
          <a:bodyPr wrap="square" rtlCol="0">
            <a:noAutofit/>
          </a:bodyPr>
          <a:p>
            <a:r>
              <a:rPr lang="en-US" altLang="en-US" sz="3200" b="1">
                <a:solidFill>
                  <a:schemeClr val="tx2"/>
                </a:solidFill>
                <a:latin typeface="Calibri" panose="020F0502020204030204" charset="0"/>
                <a:ea typeface="Lexend Deca"/>
                <a:cs typeface="Calibri" panose="020F0502020204030204" charset="0"/>
                <a:sym typeface="Lexend Deca"/>
              </a:rPr>
              <a:t>The Pain Point :</a:t>
            </a:r>
            <a:endParaRPr lang="en-US" altLang="en-US" sz="3200" b="1">
              <a:solidFill>
                <a:schemeClr val="tx2"/>
              </a:solidFill>
              <a:latin typeface="Calibri" panose="020F0502020204030204" charset="0"/>
              <a:ea typeface="Lexend Deca"/>
              <a:cs typeface="Calibri" panose="020F0502020204030204" charset="0"/>
              <a:sym typeface="Lexend Deca"/>
            </a:endParaRPr>
          </a:p>
          <a:p>
            <a:endParaRPr lang="en-US" altLang="en-US" sz="3200" b="1">
              <a:solidFill>
                <a:schemeClr val="tx2"/>
              </a:solidFill>
              <a:latin typeface="Calibri" panose="020F0502020204030204" charset="0"/>
              <a:ea typeface="Lexend Deca"/>
              <a:cs typeface="Calibri" panose="020F0502020204030204" charset="0"/>
              <a:sym typeface="Lexend Deca"/>
            </a:endParaRPr>
          </a:p>
        </p:txBody>
      </p:sp>
      <p:grpSp>
        <p:nvGrpSpPr>
          <p:cNvPr id="23" name="Group 22"/>
          <p:cNvGrpSpPr/>
          <p:nvPr/>
        </p:nvGrpSpPr>
        <p:grpSpPr>
          <a:xfrm>
            <a:off x="708025" y="4566920"/>
            <a:ext cx="5255260" cy="3030220"/>
            <a:chOff x="600" y="7380"/>
            <a:chExt cx="8276" cy="4772"/>
          </a:xfrm>
        </p:grpSpPr>
        <p:sp>
          <p:nvSpPr>
            <p:cNvPr id="12" name="Rounded Rectangle 11"/>
            <p:cNvSpPr/>
            <p:nvPr/>
          </p:nvSpPr>
          <p:spPr>
            <a:xfrm>
              <a:off x="600" y="7380"/>
              <a:ext cx="8277" cy="4773"/>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Text Box 13"/>
            <p:cNvSpPr txBox="1"/>
            <p:nvPr/>
          </p:nvSpPr>
          <p:spPr>
            <a:xfrm>
              <a:off x="925" y="7688"/>
              <a:ext cx="7649" cy="4225"/>
            </a:xfrm>
            <a:prstGeom prst="rect">
              <a:avLst/>
            </a:prstGeom>
            <a:noFill/>
          </p:spPr>
          <p:txBody>
            <a:bodyPr wrap="square" rtlCol="0">
              <a:noAutofit/>
            </a:bodyPr>
            <a:p>
              <a:r>
                <a:rPr lang="en-US" altLang="en-US" sz="2800" b="1">
                  <a:solidFill>
                    <a:schemeClr val="bg1"/>
                  </a:solidFill>
                </a:rPr>
                <a:t>Service Mode Performance</a:t>
              </a:r>
              <a:endParaRPr lang="en-US" altLang="en-US" sz="2800" b="1">
                <a:solidFill>
                  <a:schemeClr val="bg1"/>
                </a:solidFill>
              </a:endParaRPr>
            </a:p>
            <a:p>
              <a:endParaRPr lang="en-US" altLang="en-US" sz="2800" b="1">
                <a:solidFill>
                  <a:schemeClr val="bg1"/>
                </a:solidFill>
              </a:endParaRPr>
            </a:p>
            <a:p>
              <a:r>
                <a:rPr lang="en-US" altLang="en-US" sz="2400">
                  <a:solidFill>
                    <a:schemeClr val="bg1"/>
                  </a:solidFill>
                </a:rPr>
                <a:t>Do restaurants offering online delivery perform better than those relying primarily on offline dining in terms of ratings and popularity?</a:t>
              </a:r>
              <a:endParaRPr lang="en-US" altLang="en-US" sz="2400">
                <a:solidFill>
                  <a:schemeClr val="bg1"/>
                </a:solidFill>
              </a:endParaRPr>
            </a:p>
          </p:txBody>
        </p:sp>
      </p:grpSp>
      <p:grpSp>
        <p:nvGrpSpPr>
          <p:cNvPr id="24" name="Group 23"/>
          <p:cNvGrpSpPr/>
          <p:nvPr/>
        </p:nvGrpSpPr>
        <p:grpSpPr>
          <a:xfrm>
            <a:off x="6553200" y="4566920"/>
            <a:ext cx="5255895" cy="3030855"/>
            <a:chOff x="9600" y="7192"/>
            <a:chExt cx="8277" cy="4773"/>
          </a:xfrm>
        </p:grpSpPr>
        <p:sp>
          <p:nvSpPr>
            <p:cNvPr id="15" name="Rounded Rectangle 14"/>
            <p:cNvSpPr/>
            <p:nvPr/>
          </p:nvSpPr>
          <p:spPr>
            <a:xfrm>
              <a:off x="9600" y="7192"/>
              <a:ext cx="8277" cy="4773"/>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7" name="Text Box 16"/>
            <p:cNvSpPr txBox="1"/>
            <p:nvPr/>
          </p:nvSpPr>
          <p:spPr>
            <a:xfrm>
              <a:off x="9960" y="7380"/>
              <a:ext cx="7743" cy="4225"/>
            </a:xfrm>
            <a:prstGeom prst="rect">
              <a:avLst/>
            </a:prstGeom>
            <a:noFill/>
          </p:spPr>
          <p:txBody>
            <a:bodyPr wrap="square" rtlCol="0">
              <a:noAutofit/>
            </a:bodyPr>
            <a:p>
              <a:r>
                <a:rPr lang="en-US" altLang="en-US" sz="2800" b="1">
                  <a:solidFill>
                    <a:schemeClr val="bg1"/>
                  </a:solidFill>
                </a:rPr>
                <a:t>Customer Preference by Restaurant Type</a:t>
              </a:r>
              <a:endParaRPr lang="en-US" altLang="en-US" sz="2800" b="1">
                <a:solidFill>
                  <a:schemeClr val="bg1"/>
                </a:solidFill>
              </a:endParaRPr>
            </a:p>
            <a:p>
              <a:endParaRPr lang="en-US" altLang="en-US" sz="2800" b="1">
                <a:solidFill>
                  <a:schemeClr val="bg1"/>
                </a:solidFill>
              </a:endParaRPr>
            </a:p>
            <a:p>
              <a:r>
                <a:rPr lang="en-US" altLang="en-US" sz="2400">
                  <a:solidFill>
                    <a:schemeClr val="bg1"/>
                  </a:solidFill>
                </a:rPr>
                <a:t>Which types of restaurants (e.g., casual dining, quick service) attract the highest customer engagement and votes?</a:t>
              </a:r>
              <a:endParaRPr lang="en-US" altLang="en-US" sz="2400">
                <a:solidFill>
                  <a:schemeClr val="bg1"/>
                </a:solidFill>
              </a:endParaRPr>
            </a:p>
          </p:txBody>
        </p:sp>
      </p:grpSp>
      <p:grpSp>
        <p:nvGrpSpPr>
          <p:cNvPr id="25" name="Group 24"/>
          <p:cNvGrpSpPr/>
          <p:nvPr/>
        </p:nvGrpSpPr>
        <p:grpSpPr>
          <a:xfrm>
            <a:off x="12344400" y="4533900"/>
            <a:ext cx="5255260" cy="3030220"/>
            <a:chOff x="18960" y="7380"/>
            <a:chExt cx="8276" cy="4772"/>
          </a:xfrm>
        </p:grpSpPr>
        <p:sp>
          <p:nvSpPr>
            <p:cNvPr id="20" name="Rounded Rectangle 19"/>
            <p:cNvSpPr/>
            <p:nvPr/>
          </p:nvSpPr>
          <p:spPr>
            <a:xfrm>
              <a:off x="18960" y="7380"/>
              <a:ext cx="8277" cy="4773"/>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Text Box 20"/>
            <p:cNvSpPr txBox="1"/>
            <p:nvPr/>
          </p:nvSpPr>
          <p:spPr>
            <a:xfrm>
              <a:off x="19320" y="7620"/>
              <a:ext cx="7649" cy="4225"/>
            </a:xfrm>
            <a:prstGeom prst="rect">
              <a:avLst/>
            </a:prstGeom>
            <a:noFill/>
          </p:spPr>
          <p:txBody>
            <a:bodyPr wrap="square" rtlCol="0">
              <a:noAutofit/>
            </a:bodyPr>
            <a:p>
              <a:r>
                <a:rPr lang="en-US" altLang="en-US" sz="2800" b="1">
                  <a:solidFill>
                    <a:schemeClr val="bg1"/>
                  </a:solidFill>
                </a:rPr>
                <a:t>Price Sensitivity for Couples</a:t>
              </a:r>
              <a:endParaRPr lang="en-US" altLang="en-US" sz="2800" b="1">
                <a:solidFill>
                  <a:schemeClr val="bg1"/>
                </a:solidFill>
              </a:endParaRPr>
            </a:p>
            <a:p>
              <a:endParaRPr lang="en-US" altLang="en-US" sz="2800" b="1">
                <a:solidFill>
                  <a:schemeClr val="bg1"/>
                </a:solidFill>
              </a:endParaRPr>
            </a:p>
            <a:p>
              <a:r>
                <a:rPr lang="en-US" altLang="en-US" sz="2400">
                  <a:solidFill>
                    <a:schemeClr val="bg1"/>
                  </a:solidFill>
                </a:rPr>
                <a:t>What price range for two people is most preferred when dining out, especially among couples?</a:t>
              </a:r>
              <a:endParaRPr lang="en-US" altLang="en-US" sz="2400">
                <a:solidFill>
                  <a:schemeClr val="bg1"/>
                </a:solidFill>
              </a:endParaRPr>
            </a:p>
          </p:txBody>
        </p:sp>
      </p:grpSp>
      <p:sp>
        <p:nvSpPr>
          <p:cNvPr id="26" name="Text Box 25"/>
          <p:cNvSpPr txBox="1"/>
          <p:nvPr/>
        </p:nvSpPr>
        <p:spPr>
          <a:xfrm>
            <a:off x="457200" y="7937500"/>
            <a:ext cx="13383260" cy="1691640"/>
          </a:xfrm>
          <a:prstGeom prst="rect">
            <a:avLst/>
          </a:prstGeom>
          <a:noFill/>
        </p:spPr>
        <p:txBody>
          <a:bodyPr wrap="square" rtlCol="0">
            <a:spAutoFit/>
          </a:bodyPr>
          <a:p>
            <a:pPr indent="0">
              <a:lnSpc>
                <a:spcPct val="100000"/>
              </a:lnSpc>
              <a:buFont typeface="Wingdings" panose="05000000000000000000" charset="0"/>
              <a:buNone/>
            </a:pPr>
            <a:r>
              <a:rPr lang="en-US" altLang="en-US" sz="3200" b="1">
                <a:solidFill>
                  <a:schemeClr val="tx2"/>
                </a:solidFill>
              </a:rPr>
              <a:t>Why This Analysis Matters ?</a:t>
            </a:r>
            <a:endParaRPr lang="en-US" altLang="en-US" sz="2400">
              <a:solidFill>
                <a:schemeClr val="tx2"/>
              </a:solidFill>
            </a:endParaRPr>
          </a:p>
          <a:p>
            <a:pPr marL="342900" indent="-342900">
              <a:lnSpc>
                <a:spcPct val="100000"/>
              </a:lnSpc>
              <a:buFont typeface="Wingdings" panose="05000000000000000000" charset="0"/>
              <a:buChar char="Ø"/>
            </a:pPr>
            <a:r>
              <a:rPr lang="en-US" altLang="en-US" sz="2400">
                <a:solidFill>
                  <a:schemeClr val="tx2"/>
                </a:solidFill>
              </a:rPr>
              <a:t>Helps restaurants decide where to invest (delivery infrastructure vs dine-in).</a:t>
            </a:r>
            <a:endParaRPr lang="en-US" altLang="en-US" sz="2400">
              <a:solidFill>
                <a:schemeClr val="tx2"/>
              </a:solidFill>
            </a:endParaRPr>
          </a:p>
          <a:p>
            <a:pPr marL="342900" indent="-342900">
              <a:lnSpc>
                <a:spcPct val="100000"/>
              </a:lnSpc>
              <a:buFont typeface="Wingdings" panose="05000000000000000000" charset="0"/>
              <a:buChar char="Ø"/>
            </a:pPr>
            <a:r>
              <a:rPr lang="en-US" altLang="en-US" sz="2400">
                <a:solidFill>
                  <a:schemeClr val="tx2"/>
                </a:solidFill>
              </a:rPr>
              <a:t>Enables Zomato to recommend and promote restaurants more effectively.</a:t>
            </a:r>
            <a:endParaRPr lang="en-US" altLang="en-US" sz="2400">
              <a:solidFill>
                <a:schemeClr val="tx2"/>
              </a:solidFill>
            </a:endParaRPr>
          </a:p>
          <a:p>
            <a:pPr marL="342900" indent="-342900">
              <a:lnSpc>
                <a:spcPct val="100000"/>
              </a:lnSpc>
              <a:buFont typeface="Wingdings" panose="05000000000000000000" charset="0"/>
              <a:buChar char="Ø"/>
            </a:pPr>
            <a:r>
              <a:rPr lang="en-US" altLang="en-US" sz="2400">
                <a:solidFill>
                  <a:schemeClr val="tx2"/>
                </a:solidFill>
              </a:rPr>
              <a:t>Supports data-driven pricing strategies aligned with customer preferences.</a:t>
            </a:r>
            <a:endParaRPr lang="en-US" altLang="en-US" sz="2400">
              <a:solidFill>
                <a:schemeClr val="tx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381980" cy="1812925"/>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3048000" y="266700"/>
            <a:ext cx="12545060" cy="1431925"/>
          </a:xfrm>
          <a:prstGeom prst="rect">
            <a:avLst/>
          </a:prstGeom>
        </p:spPr>
        <p:txBody>
          <a:bodyPr wrap="square" lIns="0" tIns="0" rIns="0" bIns="0" rtlCol="0" anchor="t">
            <a:sp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Data Architecture</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791845" y="2015490"/>
            <a:ext cx="16610965" cy="1897380"/>
          </a:xfrm>
          <a:prstGeom prst="rect">
            <a:avLst/>
          </a:prstGeom>
        </p:spPr>
        <p:txBody>
          <a:bodyPr wrap="square" lIns="0" tIns="0" rIns="0" bIns="0" rtlCol="0" anchor="t">
            <a:noAutofit/>
          </a:bodyPr>
          <a:lstStyle/>
          <a:p>
            <a:pPr algn="l">
              <a:lnSpc>
                <a:spcPts val="5275"/>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Data Source :</a:t>
            </a:r>
            <a:endParaRPr lang="en-US" altLang="en-US" sz="32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a:solidFill>
                  <a:schemeClr val="tx2"/>
                </a:solidFill>
                <a:latin typeface="Calibri" panose="020F0502020204030204" charset="0"/>
                <a:ea typeface="Lexend Deca"/>
                <a:cs typeface="Calibri" panose="020F0502020204030204" charset="0"/>
                <a:sym typeface="Lexend Deca"/>
              </a:rPr>
              <a:t>We have utilised the Zomato Restaurant Dataset obtained from Kaggle.</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a:solidFill>
                  <a:schemeClr val="tx2"/>
                </a:solidFill>
                <a:latin typeface="Calibri" panose="020F0502020204030204" charset="0"/>
                <a:ea typeface="Lexend Deca"/>
                <a:cs typeface="Calibri" panose="020F0502020204030204" charset="0"/>
                <a:sym typeface="Lexend Deca"/>
              </a:rPr>
              <a:t>The dataset is provided in CSV format and contains restaurant-level information such as restaurant name, ratings, votes, online ordering availability, restaurant type, and approximate cost for two people etc.</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
        <p:nvSpPr>
          <p:cNvPr id="6" name="TextBox 7"/>
          <p:cNvSpPr txBox="1"/>
          <p:nvPr/>
        </p:nvSpPr>
        <p:spPr>
          <a:xfrm>
            <a:off x="791845" y="3924300"/>
            <a:ext cx="9234170" cy="2201545"/>
          </a:xfrm>
          <a:prstGeom prst="rect">
            <a:avLst/>
          </a:prstGeom>
        </p:spPr>
        <p:txBody>
          <a:bodyPr wrap="square" lIns="0" tIns="0" rIns="0" bIns="0" rtlCol="0" anchor="t">
            <a:noAutofit/>
          </a:bodyPr>
          <a:lstStyle/>
          <a:p>
            <a:pPr algn="l">
              <a:lnSpc>
                <a:spcPts val="5275"/>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Raw Data Characteristics :</a:t>
            </a:r>
            <a:endParaRPr lang="en-US" altLang="en-US" sz="3200" b="1">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Mixed data types, including numeric, categorical, and text fields.</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Ratings stored in string format (e.g., "4.1/5") instead of numeric.</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Missing values in key fields such as ratings and votes.</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Inconsistent formatting that required preprocessing before analysis.</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
        <p:nvSpPr>
          <p:cNvPr id="9" name="Text Box 8"/>
          <p:cNvSpPr txBox="1"/>
          <p:nvPr/>
        </p:nvSpPr>
        <p:spPr>
          <a:xfrm>
            <a:off x="791845" y="6210300"/>
            <a:ext cx="6763385" cy="568960"/>
          </a:xfrm>
          <a:prstGeom prst="rect">
            <a:avLst/>
          </a:prstGeom>
          <a:noFill/>
          <a:ln>
            <a:noFill/>
          </a:ln>
        </p:spPr>
        <p:txBody>
          <a:bodyPr wrap="square" rtlCol="0">
            <a:noAutofit/>
          </a:bodyPr>
          <a:p>
            <a:r>
              <a:rPr lang="en-US" altLang="en-US" sz="3200" b="1">
                <a:solidFill>
                  <a:schemeClr val="tx2"/>
                </a:solidFill>
                <a:latin typeface="Calibri" panose="020F0502020204030204" charset="0"/>
                <a:ea typeface="Lexend Deca"/>
                <a:cs typeface="Calibri" panose="020F0502020204030204" charset="0"/>
                <a:sym typeface="Lexend Deca"/>
              </a:rPr>
              <a:t>Cleaning &amp; Preprocessing Strategy</a:t>
            </a:r>
            <a:endParaRPr lang="en-US" altLang="en-US" sz="3200" b="1">
              <a:solidFill>
                <a:schemeClr val="tx2"/>
              </a:solidFill>
              <a:latin typeface="Calibri" panose="020F0502020204030204" charset="0"/>
              <a:ea typeface="Lexend Deca"/>
              <a:cs typeface="Calibri" panose="020F0502020204030204" charset="0"/>
              <a:sym typeface="Lexend Deca"/>
            </a:endParaRPr>
          </a:p>
        </p:txBody>
      </p:sp>
      <p:grpSp>
        <p:nvGrpSpPr>
          <p:cNvPr id="10" name="Group 9"/>
          <p:cNvGrpSpPr/>
          <p:nvPr/>
        </p:nvGrpSpPr>
        <p:grpSpPr>
          <a:xfrm>
            <a:off x="859936" y="6901344"/>
            <a:ext cx="5291455" cy="2953149"/>
            <a:chOff x="634" y="6947"/>
            <a:chExt cx="8277" cy="5725"/>
          </a:xfrm>
        </p:grpSpPr>
        <p:sp>
          <p:nvSpPr>
            <p:cNvPr id="11" name="Rounded Rectangle 10"/>
            <p:cNvSpPr/>
            <p:nvPr/>
          </p:nvSpPr>
          <p:spPr>
            <a:xfrm>
              <a:off x="634" y="6947"/>
              <a:ext cx="8277" cy="5725"/>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6" name="Text Box 15"/>
            <p:cNvSpPr txBox="1"/>
            <p:nvPr/>
          </p:nvSpPr>
          <p:spPr>
            <a:xfrm>
              <a:off x="925" y="7688"/>
              <a:ext cx="7827" cy="4774"/>
            </a:xfrm>
            <a:prstGeom prst="rect">
              <a:avLst/>
            </a:prstGeom>
            <a:noFill/>
          </p:spPr>
          <p:txBody>
            <a:bodyPr wrap="square" rtlCol="0">
              <a:noAutofit/>
            </a:bodyPr>
            <a:p>
              <a:r>
                <a:rPr lang="en-US" altLang="en-US" sz="2800" b="1">
                  <a:solidFill>
                    <a:schemeClr val="bg1"/>
                  </a:solidFill>
                </a:rPr>
                <a:t>Rating Transformation</a:t>
              </a:r>
              <a:endParaRPr lang="en-US" altLang="en-US" sz="2800" b="1">
                <a:solidFill>
                  <a:schemeClr val="bg1"/>
                </a:solidFill>
              </a:endParaRPr>
            </a:p>
            <a:p>
              <a:r>
                <a:rPr lang="en-US" altLang="en-US" sz="2400">
                  <a:solidFill>
                    <a:schemeClr val="bg1"/>
                  </a:solidFill>
                </a:rPr>
                <a:t>Converted ratings from "4.1/5" to numeric values for analysis.</a:t>
              </a:r>
              <a:endParaRPr lang="en-US" altLang="en-US" sz="2400">
                <a:solidFill>
                  <a:schemeClr val="bg1"/>
                </a:solidFill>
              </a:endParaRPr>
            </a:p>
            <a:p>
              <a:endParaRPr lang="en-US" altLang="en-US" sz="2400">
                <a:solidFill>
                  <a:schemeClr val="bg1"/>
                </a:solidFill>
              </a:endParaRPr>
            </a:p>
            <a:p>
              <a:r>
                <a:rPr lang="en-US" altLang="en-US" sz="2400" b="1">
                  <a:solidFill>
                    <a:schemeClr val="bg1"/>
                  </a:solidFill>
                </a:rPr>
                <a:t>df$rate &lt;- str_remove(df$rate, "/5")</a:t>
              </a:r>
              <a:endParaRPr lang="en-US" altLang="en-US" sz="2400" b="1">
                <a:solidFill>
                  <a:schemeClr val="bg1"/>
                </a:solidFill>
              </a:endParaRPr>
            </a:p>
            <a:p>
              <a:r>
                <a:rPr lang="en-US" altLang="en-US" sz="2400" b="1">
                  <a:solidFill>
                    <a:schemeClr val="bg1"/>
                  </a:solidFill>
                </a:rPr>
                <a:t>df$rate &lt;- as.numeric(df$rate)</a:t>
              </a:r>
              <a:endParaRPr lang="en-US" altLang="en-US" sz="2400" b="1">
                <a:solidFill>
                  <a:schemeClr val="bg1"/>
                </a:solidFill>
              </a:endParaRPr>
            </a:p>
          </p:txBody>
        </p:sp>
      </p:grpSp>
      <p:grpSp>
        <p:nvGrpSpPr>
          <p:cNvPr id="19" name="Group 18"/>
          <p:cNvGrpSpPr/>
          <p:nvPr/>
        </p:nvGrpSpPr>
        <p:grpSpPr>
          <a:xfrm>
            <a:off x="6560185" y="6902450"/>
            <a:ext cx="5327015" cy="2945259"/>
            <a:chOff x="600" y="7380"/>
            <a:chExt cx="8277" cy="5622"/>
          </a:xfrm>
        </p:grpSpPr>
        <p:sp>
          <p:nvSpPr>
            <p:cNvPr id="22" name="Rounded Rectangle 21"/>
            <p:cNvSpPr/>
            <p:nvPr/>
          </p:nvSpPr>
          <p:spPr>
            <a:xfrm>
              <a:off x="600" y="7380"/>
              <a:ext cx="8277" cy="5622"/>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Text Box 26"/>
            <p:cNvSpPr txBox="1"/>
            <p:nvPr/>
          </p:nvSpPr>
          <p:spPr>
            <a:xfrm>
              <a:off x="826" y="7688"/>
              <a:ext cx="7961" cy="4859"/>
            </a:xfrm>
            <a:prstGeom prst="rect">
              <a:avLst/>
            </a:prstGeom>
            <a:noFill/>
          </p:spPr>
          <p:txBody>
            <a:bodyPr wrap="square" rtlCol="0">
              <a:noAutofit/>
            </a:bodyPr>
            <a:p>
              <a:r>
                <a:rPr lang="en-US" altLang="en-US" sz="2800" b="1">
                  <a:solidFill>
                    <a:schemeClr val="bg1"/>
                  </a:solidFill>
                </a:rPr>
                <a:t>Missing Value Handling</a:t>
              </a:r>
              <a:endParaRPr lang="en-US" altLang="en-US" sz="2800" b="1">
                <a:solidFill>
                  <a:schemeClr val="bg1"/>
                </a:solidFill>
              </a:endParaRPr>
            </a:p>
            <a:p>
              <a:r>
                <a:rPr lang="en-US" altLang="en-US" sz="2400">
                  <a:solidFill>
                    <a:schemeClr val="bg1"/>
                  </a:solidFill>
                </a:rPr>
                <a:t>Rows with invalid or missing ratings were removed, and missing vote counts were identified to prevent distortion in popularity analysis.</a:t>
              </a:r>
              <a:endParaRPr lang="en-US" altLang="en-US" sz="2400">
                <a:solidFill>
                  <a:schemeClr val="bg1"/>
                </a:solidFill>
              </a:endParaRPr>
            </a:p>
            <a:p>
              <a:endParaRPr lang="en-US" altLang="en-US" sz="2400">
                <a:solidFill>
                  <a:schemeClr val="bg1"/>
                </a:solidFill>
              </a:endParaRPr>
            </a:p>
            <a:p>
              <a:r>
                <a:rPr lang="en-US" altLang="en-US" sz="2400" b="1">
                  <a:solidFill>
                    <a:schemeClr val="bg1"/>
                  </a:solidFill>
                </a:rPr>
                <a:t>colSums(is.na(df))</a:t>
              </a:r>
              <a:endParaRPr lang="en-US" altLang="en-US" sz="2400" b="1">
                <a:solidFill>
                  <a:schemeClr val="bg1"/>
                </a:solidFill>
              </a:endParaRPr>
            </a:p>
          </p:txBody>
        </p:sp>
      </p:grpSp>
      <p:grpSp>
        <p:nvGrpSpPr>
          <p:cNvPr id="29" name="Group 28"/>
          <p:cNvGrpSpPr/>
          <p:nvPr/>
        </p:nvGrpSpPr>
        <p:grpSpPr>
          <a:xfrm>
            <a:off x="12344400" y="6888480"/>
            <a:ext cx="5267960" cy="2959100"/>
            <a:chOff x="600" y="7380"/>
            <a:chExt cx="8277" cy="5366"/>
          </a:xfrm>
        </p:grpSpPr>
        <p:sp>
          <p:nvSpPr>
            <p:cNvPr id="30" name="Rounded Rectangle 29"/>
            <p:cNvSpPr/>
            <p:nvPr/>
          </p:nvSpPr>
          <p:spPr>
            <a:xfrm>
              <a:off x="600" y="7380"/>
              <a:ext cx="8277" cy="5366"/>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1" name="Text Box 30"/>
            <p:cNvSpPr txBox="1"/>
            <p:nvPr/>
          </p:nvSpPr>
          <p:spPr>
            <a:xfrm>
              <a:off x="881" y="7536"/>
              <a:ext cx="7912" cy="4859"/>
            </a:xfrm>
            <a:prstGeom prst="rect">
              <a:avLst/>
            </a:prstGeom>
            <a:noFill/>
          </p:spPr>
          <p:txBody>
            <a:bodyPr wrap="square" rtlCol="0">
              <a:noAutofit/>
            </a:bodyPr>
            <a:p>
              <a:r>
                <a:rPr lang="en-US" altLang="en-US" sz="2800" b="1">
                  <a:solidFill>
                    <a:schemeClr val="bg1"/>
                  </a:solidFill>
                </a:rPr>
                <a:t>Data Type Standardization</a:t>
              </a:r>
              <a:endParaRPr lang="en-US" altLang="en-US" sz="2800" b="1">
                <a:solidFill>
                  <a:schemeClr val="bg1"/>
                </a:solidFill>
              </a:endParaRPr>
            </a:p>
            <a:p>
              <a:endParaRPr lang="en-US" altLang="en-US" sz="2800" b="1">
                <a:solidFill>
                  <a:schemeClr val="bg1"/>
                </a:solidFill>
              </a:endParaRPr>
            </a:p>
            <a:p>
              <a:r>
                <a:rPr lang="en-US" altLang="en-US" sz="2400">
                  <a:solidFill>
                    <a:schemeClr val="bg1"/>
                  </a:solidFill>
                </a:rPr>
                <a:t>Numeric columns such as ratings, votes, and approximate cost for two people were formatted correctly to ensure consistency across all analyses.</a:t>
              </a:r>
              <a:endParaRPr lang="en-US" altLang="en-US" sz="2400">
                <a:solidFill>
                  <a:schemeClr val="bg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0" y="-635"/>
            <a:ext cx="9137015" cy="10367645"/>
            <a:chOff x="0" y="0"/>
            <a:chExt cx="2082160" cy="2525026"/>
          </a:xfrm>
        </p:grpSpPr>
        <p:sp>
          <p:nvSpPr>
            <p:cNvPr id="3" name="Freeform 3"/>
            <p:cNvSpPr/>
            <p:nvPr/>
          </p:nvSpPr>
          <p:spPr>
            <a:xfrm>
              <a:off x="0" y="0"/>
              <a:ext cx="2082160" cy="2525026"/>
            </a:xfrm>
            <a:custGeom>
              <a:avLst/>
              <a:gdLst/>
              <a:ahLst/>
              <a:cxnLst/>
              <a:rect l="l" t="t" r="r" b="b"/>
              <a:pathLst>
                <a:path w="2082160" h="2525026">
                  <a:moveTo>
                    <a:pt x="0" y="0"/>
                  </a:moveTo>
                  <a:lnTo>
                    <a:pt x="2082160" y="0"/>
                  </a:lnTo>
                  <a:lnTo>
                    <a:pt x="2082160" y="2525026"/>
                  </a:lnTo>
                  <a:lnTo>
                    <a:pt x="0" y="2525026"/>
                  </a:lnTo>
                  <a:close/>
                </a:path>
              </a:pathLst>
            </a:custGeom>
            <a:solidFill>
              <a:srgbClr val="31356E"/>
            </a:solidFill>
          </p:spPr>
        </p:sp>
        <p:sp>
          <p:nvSpPr>
            <p:cNvPr id="4" name="TextBox 4"/>
            <p:cNvSpPr txBox="1"/>
            <p:nvPr/>
          </p:nvSpPr>
          <p:spPr>
            <a:xfrm>
              <a:off x="0" y="-38100"/>
              <a:ext cx="2082160" cy="2563126"/>
            </a:xfrm>
            <a:prstGeom prst="rect">
              <a:avLst/>
            </a:prstGeom>
          </p:spPr>
          <p:txBody>
            <a:bodyPr lIns="50800" tIns="50800" rIns="50800" bIns="50800" rtlCol="0" anchor="ctr"/>
            <a:lstStyle/>
            <a:p>
              <a:pPr algn="ctr">
                <a:lnSpc>
                  <a:spcPts val="2660"/>
                </a:lnSpc>
                <a:spcBef>
                  <a:spcPct val="0"/>
                </a:spcBef>
              </a:pPr>
            </a:p>
          </p:txBody>
        </p:sp>
      </p:grpSp>
      <p:sp>
        <p:nvSpPr>
          <p:cNvPr id="8" name="TextBox 8"/>
          <p:cNvSpPr txBox="1"/>
          <p:nvPr/>
        </p:nvSpPr>
        <p:spPr>
          <a:xfrm>
            <a:off x="304800" y="-124460"/>
            <a:ext cx="8209915" cy="1282065"/>
          </a:xfrm>
          <a:prstGeom prst="rect">
            <a:avLst/>
          </a:prstGeom>
        </p:spPr>
        <p:txBody>
          <a:bodyPr wrap="square" lIns="0" tIns="0" rIns="0" bIns="0" rtlCol="0" anchor="t">
            <a:noAutofit/>
          </a:bodyPr>
          <a:lstStyle/>
          <a:p>
            <a:pPr algn="ctr">
              <a:lnSpc>
                <a:spcPts val="11170"/>
              </a:lnSpc>
            </a:pPr>
            <a:r>
              <a:rPr lang="en-US" altLang="en-US" sz="8000">
                <a:solidFill>
                  <a:srgbClr val="FFFFFF"/>
                </a:solidFill>
                <a:latin typeface="Futura Display" panose="020B0504050904050C04"/>
                <a:ea typeface="Futura Display" panose="020B0504050904050C04"/>
                <a:cs typeface="Futura Display" panose="020B0504050904050C04"/>
                <a:sym typeface="Futura Display" panose="020B0504050904050C04"/>
              </a:rPr>
              <a:t>Exploratory Insights</a:t>
            </a:r>
            <a:endParaRPr lang="en-US" altLang="en-US" sz="80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12" name="TextBox 7"/>
          <p:cNvSpPr txBox="1"/>
          <p:nvPr/>
        </p:nvSpPr>
        <p:spPr>
          <a:xfrm>
            <a:off x="228600" y="1333500"/>
            <a:ext cx="8340090" cy="1125220"/>
          </a:xfrm>
          <a:prstGeom prst="rect">
            <a:avLst/>
          </a:prstGeom>
        </p:spPr>
        <p:txBody>
          <a:bodyPr wrap="square" lIns="0" tIns="0" rIns="0" bIns="0" rtlCol="0" anchor="t">
            <a:noAutofit/>
          </a:bodyPr>
          <a:lstStyle/>
          <a:p>
            <a:pPr indent="0" algn="ctr">
              <a:lnSpc>
                <a:spcPct val="100000"/>
              </a:lnSpc>
              <a:spcBef>
                <a:spcPct val="0"/>
              </a:spcBef>
              <a:buFont typeface="Arial" panose="020B0604020202020204" pitchFamily="34" charset="0"/>
              <a:buNone/>
            </a:pPr>
            <a:r>
              <a:rPr lang="en-US" altLang="en-US" sz="3200" b="1">
                <a:solidFill>
                  <a:schemeClr val="bg1"/>
                </a:solidFill>
                <a:latin typeface="Calibri" panose="020F0502020204030204" charset="0"/>
                <a:ea typeface="Lexend Deca"/>
                <a:cs typeface="Calibri" panose="020F0502020204030204" charset="0"/>
                <a:sym typeface="Lexend Deca"/>
              </a:rPr>
              <a:t>Insight 1: Impact of Online Order vs Offline        Order on Restaurant Performance</a:t>
            </a:r>
            <a:endParaRPr lang="en-US" altLang="en-US" sz="3200" b="1">
              <a:solidFill>
                <a:schemeClr val="bg1"/>
              </a:solidFill>
              <a:latin typeface="Calibri" panose="020F0502020204030204" charset="0"/>
              <a:ea typeface="Lexend Deca"/>
              <a:cs typeface="Calibri" panose="020F0502020204030204" charset="0"/>
              <a:sym typeface="Lexend Deca"/>
            </a:endParaRPr>
          </a:p>
          <a:p>
            <a:pPr algn="ctr">
              <a:lnSpc>
                <a:spcPct val="100000"/>
              </a:lnSpc>
              <a:spcBef>
                <a:spcPct val="0"/>
              </a:spcBef>
            </a:pPr>
            <a:endParaRPr lang="en-US" altLang="en-US" sz="2400" b="1">
              <a:solidFill>
                <a:schemeClr val="bg1"/>
              </a:solidFill>
              <a:latin typeface="Calibri" panose="020F0502020204030204" charset="0"/>
              <a:ea typeface="Lexend Deca"/>
              <a:cs typeface="Calibri" panose="020F0502020204030204" charset="0"/>
              <a:sym typeface="Lexend Deca"/>
            </a:endParaRPr>
          </a:p>
          <a:p>
            <a:pPr algn="ctr">
              <a:lnSpc>
                <a:spcPct val="100000"/>
              </a:lnSpc>
              <a:spcBef>
                <a:spcPct val="0"/>
              </a:spcBef>
            </a:pPr>
            <a:endParaRPr lang="en-US" altLang="en-US" sz="2400" b="1">
              <a:solidFill>
                <a:schemeClr val="bg1"/>
              </a:solidFill>
              <a:latin typeface="Calibri" panose="020F0502020204030204" charset="0"/>
              <a:ea typeface="Lexend Deca"/>
              <a:cs typeface="Calibri" panose="020F0502020204030204" charset="0"/>
              <a:sym typeface="Lexend Deca"/>
            </a:endParaRPr>
          </a:p>
        </p:txBody>
      </p:sp>
      <p:sp>
        <p:nvSpPr>
          <p:cNvPr id="13" name="TextBox 7"/>
          <p:cNvSpPr txBox="1"/>
          <p:nvPr/>
        </p:nvSpPr>
        <p:spPr>
          <a:xfrm>
            <a:off x="533400" y="2724150"/>
            <a:ext cx="7914005" cy="2153285"/>
          </a:xfrm>
          <a:prstGeom prst="rect">
            <a:avLst/>
          </a:prstGeom>
          <a:ln>
            <a:noFill/>
          </a:ln>
        </p:spPr>
        <p:txBody>
          <a:bodyPr wrap="square" lIns="0" tIns="0" rIns="0" bIns="0" rtlCol="0" anchor="t">
            <a:noAutofit/>
          </a:bodyPr>
          <a:lstStyle/>
          <a:p>
            <a:pPr algn="l">
              <a:lnSpc>
                <a:spcPct val="100000"/>
              </a:lnSpc>
              <a:spcBef>
                <a:spcPct val="0"/>
              </a:spcBef>
            </a:pPr>
            <a:r>
              <a:rPr lang="en-US" altLang="en-US" sz="3200" b="1">
                <a:solidFill>
                  <a:schemeClr val="bg1"/>
                </a:solidFill>
                <a:latin typeface="Calibri" panose="020F0502020204030204" charset="0"/>
                <a:ea typeface="Lexend Deca"/>
                <a:cs typeface="Calibri" panose="020F0502020204030204" charset="0"/>
                <a:sym typeface="Lexend Deca"/>
              </a:rPr>
              <a:t>Visualization Used :</a:t>
            </a:r>
            <a:endParaRPr lang="en-US" altLang="en-US" sz="2800" b="1">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Bar Chart : Comparison of restaurants offering online ordering (Yes) vs offline-only (No) .</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Boxplot : Comparison of customer ratings for online-order and offline-only restaurants.</a:t>
            </a:r>
            <a:endParaRPr lang="en-US" altLang="en-US" sz="2400">
              <a:solidFill>
                <a:schemeClr val="bg1"/>
              </a:solidFill>
              <a:latin typeface="Calibri" panose="020F0502020204030204" charset="0"/>
              <a:ea typeface="Lexend Deca"/>
              <a:cs typeface="Calibri" panose="020F0502020204030204" charset="0"/>
              <a:sym typeface="Lexend Deca"/>
            </a:endParaRPr>
          </a:p>
        </p:txBody>
      </p:sp>
      <p:sp>
        <p:nvSpPr>
          <p:cNvPr id="14" name="TextBox 7"/>
          <p:cNvSpPr txBox="1"/>
          <p:nvPr/>
        </p:nvSpPr>
        <p:spPr>
          <a:xfrm>
            <a:off x="304800" y="4991100"/>
            <a:ext cx="8481695" cy="2769235"/>
          </a:xfrm>
          <a:prstGeom prst="rect">
            <a:avLst/>
          </a:prstGeom>
          <a:ln>
            <a:noFill/>
          </a:ln>
        </p:spPr>
        <p:txBody>
          <a:bodyPr wrap="square" lIns="0" tIns="0" rIns="0" bIns="0" rtlCol="0" anchor="t">
            <a:noAutofit/>
          </a:bodyPr>
          <a:lstStyle/>
          <a:p>
            <a:pPr algn="l">
              <a:lnSpc>
                <a:spcPct val="100000"/>
              </a:lnSpc>
              <a:spcBef>
                <a:spcPct val="0"/>
              </a:spcBef>
            </a:pPr>
            <a:r>
              <a:rPr lang="en-US" altLang="en-US" sz="3200" b="1">
                <a:solidFill>
                  <a:schemeClr val="bg1"/>
                </a:solidFill>
                <a:latin typeface="Calibri" panose="020F0502020204030204" charset="0"/>
                <a:ea typeface="Lexend Deca"/>
                <a:cs typeface="Calibri" panose="020F0502020204030204" charset="0"/>
                <a:sym typeface="Lexend Deca"/>
              </a:rPr>
              <a:t>Key Observations</a:t>
            </a:r>
            <a:endParaRPr lang="en-US" altLang="en-US" sz="28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This suggests that a majority of the restaurants do not accept online orders.</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Restaurants with online ordering have higher median ratings.</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Offline-only restaurants have lower median ratings and more variability.</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Online-order restaurants show more consistent customer ratings.</a:t>
            </a:r>
            <a:endParaRPr lang="en-US" altLang="en-US" sz="2400">
              <a:solidFill>
                <a:schemeClr val="bg1"/>
              </a:solidFill>
              <a:latin typeface="Calibri" panose="020F0502020204030204" charset="0"/>
              <a:ea typeface="Lexend Deca"/>
              <a:cs typeface="Calibri" panose="020F0502020204030204" charset="0"/>
              <a:sym typeface="Lexend Deca"/>
            </a:endParaRPr>
          </a:p>
        </p:txBody>
      </p:sp>
      <p:pic>
        <p:nvPicPr>
          <p:cNvPr id="15" name="Picture 14" descr="onlineordercountplot"/>
          <p:cNvPicPr>
            <a:picLocks noChangeAspect="1"/>
          </p:cNvPicPr>
          <p:nvPr/>
        </p:nvPicPr>
        <p:blipFill>
          <a:blip r:embed="rId1"/>
          <a:stretch>
            <a:fillRect/>
          </a:stretch>
        </p:blipFill>
        <p:spPr>
          <a:xfrm>
            <a:off x="9525000" y="190500"/>
            <a:ext cx="8404225" cy="4816475"/>
          </a:xfrm>
          <a:prstGeom prst="rect">
            <a:avLst/>
          </a:prstGeom>
          <a:ln>
            <a:solidFill>
              <a:schemeClr val="tx2"/>
            </a:solidFill>
          </a:ln>
        </p:spPr>
      </p:pic>
      <p:pic>
        <p:nvPicPr>
          <p:cNvPr id="16" name="Picture 15" descr="onlineboxplot"/>
          <p:cNvPicPr>
            <a:picLocks noChangeAspect="1"/>
          </p:cNvPicPr>
          <p:nvPr/>
        </p:nvPicPr>
        <p:blipFill>
          <a:blip r:embed="rId2"/>
          <a:stretch>
            <a:fillRect/>
          </a:stretch>
        </p:blipFill>
        <p:spPr>
          <a:xfrm>
            <a:off x="9525000" y="5295900"/>
            <a:ext cx="8382000" cy="4799330"/>
          </a:xfrm>
          <a:prstGeom prst="rect">
            <a:avLst/>
          </a:prstGeom>
          <a:ln>
            <a:solidFill>
              <a:schemeClr val="tx2"/>
            </a:solidFill>
          </a:ln>
        </p:spPr>
      </p:pic>
      <p:sp>
        <p:nvSpPr>
          <p:cNvPr id="17" name="TextBox 7"/>
          <p:cNvSpPr txBox="1"/>
          <p:nvPr/>
        </p:nvSpPr>
        <p:spPr>
          <a:xfrm>
            <a:off x="533400" y="7962900"/>
            <a:ext cx="8135620" cy="1825625"/>
          </a:xfrm>
          <a:prstGeom prst="rect">
            <a:avLst/>
          </a:prstGeom>
          <a:ln>
            <a:noFill/>
          </a:ln>
        </p:spPr>
        <p:txBody>
          <a:bodyPr wrap="square" lIns="0" tIns="0" rIns="0" bIns="0" rtlCol="0" anchor="t">
            <a:noAutofit/>
          </a:bodyPr>
          <a:lstStyle/>
          <a:p>
            <a:pPr indent="0" algn="l">
              <a:lnSpc>
                <a:spcPct val="100000"/>
              </a:lnSpc>
              <a:spcBef>
                <a:spcPct val="0"/>
              </a:spcBef>
              <a:buNone/>
            </a:pPr>
            <a:r>
              <a:rPr lang="en-US" altLang="en-US" sz="3200" b="1">
                <a:solidFill>
                  <a:schemeClr val="bg1"/>
                </a:solidFill>
                <a:latin typeface="Calibri" panose="020F0502020204030204" charset="0"/>
                <a:ea typeface="Lexend Deca"/>
                <a:cs typeface="Calibri" panose="020F0502020204030204" charset="0"/>
                <a:sym typeface="Lexend Deca"/>
              </a:rPr>
              <a:t>Business Insight</a:t>
            </a:r>
            <a:endParaRPr lang="en-US" altLang="en-US" sz="3200" b="1">
              <a:solidFill>
                <a:schemeClr val="bg1"/>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r>
              <a:rPr lang="en-US" altLang="en-US" sz="2400">
                <a:solidFill>
                  <a:schemeClr val="bg1"/>
                </a:solidFill>
                <a:latin typeface="Calibri" panose="020F0502020204030204" charset="0"/>
                <a:ea typeface="Lexend Deca"/>
                <a:cs typeface="Calibri" panose="020F0502020204030204" charset="0"/>
                <a:sym typeface="Lexend Deca"/>
              </a:rPr>
              <a:t>Customers show a clear preference for restaurants that support online delivery, suggesting that online availability positively influences both customer reach and perceived quality.</a:t>
            </a:r>
            <a:endParaRPr lang="en-US" altLang="en-US" sz="2400">
              <a:solidFill>
                <a:schemeClr val="bg1"/>
              </a:solidFill>
              <a:latin typeface="Calibri" panose="020F0502020204030204" charset="0"/>
              <a:ea typeface="Lexend Deca"/>
              <a:cs typeface="Calibri" panose="020F0502020204030204" charset="0"/>
              <a:sym typeface="Lexend Dec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161145" y="10160"/>
            <a:ext cx="9110980" cy="10367645"/>
            <a:chOff x="0" y="0"/>
            <a:chExt cx="2082160" cy="2525026"/>
          </a:xfrm>
        </p:grpSpPr>
        <p:sp>
          <p:nvSpPr>
            <p:cNvPr id="3" name="Freeform 3"/>
            <p:cNvSpPr/>
            <p:nvPr/>
          </p:nvSpPr>
          <p:spPr>
            <a:xfrm>
              <a:off x="0" y="0"/>
              <a:ext cx="2082160" cy="2525026"/>
            </a:xfrm>
            <a:custGeom>
              <a:avLst/>
              <a:gdLst/>
              <a:ahLst/>
              <a:cxnLst/>
              <a:rect l="l" t="t" r="r" b="b"/>
              <a:pathLst>
                <a:path w="2082160" h="2525026">
                  <a:moveTo>
                    <a:pt x="0" y="0"/>
                  </a:moveTo>
                  <a:lnTo>
                    <a:pt x="2082160" y="0"/>
                  </a:lnTo>
                  <a:lnTo>
                    <a:pt x="2082160" y="2525026"/>
                  </a:lnTo>
                  <a:lnTo>
                    <a:pt x="0" y="2525026"/>
                  </a:lnTo>
                  <a:close/>
                </a:path>
              </a:pathLst>
            </a:custGeom>
            <a:solidFill>
              <a:srgbClr val="31356E"/>
            </a:solidFill>
          </p:spPr>
        </p:sp>
        <p:sp>
          <p:nvSpPr>
            <p:cNvPr id="4" name="TextBox 4"/>
            <p:cNvSpPr txBox="1"/>
            <p:nvPr/>
          </p:nvSpPr>
          <p:spPr>
            <a:xfrm>
              <a:off x="0" y="-38100"/>
              <a:ext cx="2082160" cy="2563126"/>
            </a:xfrm>
            <a:prstGeom prst="rect">
              <a:avLst/>
            </a:prstGeom>
          </p:spPr>
          <p:txBody>
            <a:bodyPr lIns="50800" tIns="50800" rIns="50800" bIns="50800" rtlCol="0" anchor="ctr"/>
            <a:lstStyle/>
            <a:p>
              <a:pPr algn="ctr">
                <a:lnSpc>
                  <a:spcPts val="2660"/>
                </a:lnSpc>
                <a:spcBef>
                  <a:spcPct val="0"/>
                </a:spcBef>
              </a:pPr>
            </a:p>
          </p:txBody>
        </p:sp>
      </p:grpSp>
      <p:grpSp>
        <p:nvGrpSpPr>
          <p:cNvPr id="5" name="Group 4"/>
          <p:cNvGrpSpPr/>
          <p:nvPr/>
        </p:nvGrpSpPr>
        <p:grpSpPr>
          <a:xfrm rot="0">
            <a:off x="9677400" y="-113665"/>
            <a:ext cx="8440420" cy="9869170"/>
            <a:chOff x="360" y="-196"/>
            <a:chExt cx="13292" cy="15542"/>
          </a:xfrm>
        </p:grpSpPr>
        <p:sp>
          <p:nvSpPr>
            <p:cNvPr id="8" name="TextBox 8"/>
            <p:cNvSpPr txBox="1"/>
            <p:nvPr/>
          </p:nvSpPr>
          <p:spPr>
            <a:xfrm>
              <a:off x="480" y="-196"/>
              <a:ext cx="12929" cy="2019"/>
            </a:xfrm>
            <a:prstGeom prst="rect">
              <a:avLst/>
            </a:prstGeom>
          </p:spPr>
          <p:txBody>
            <a:bodyPr wrap="square" lIns="0" tIns="0" rIns="0" bIns="0" rtlCol="0" anchor="t">
              <a:noAutofit/>
            </a:bodyPr>
            <a:lstStyle/>
            <a:p>
              <a:pPr algn="ctr">
                <a:lnSpc>
                  <a:spcPts val="11170"/>
                </a:lnSpc>
              </a:pPr>
              <a:r>
                <a:rPr lang="en-US" altLang="en-US" sz="8000">
                  <a:solidFill>
                    <a:srgbClr val="FFFFFF"/>
                  </a:solidFill>
                  <a:latin typeface="Futura Display" panose="020B0504050904050C04"/>
                  <a:ea typeface="Futura Display" panose="020B0504050904050C04"/>
                  <a:cs typeface="Futura Display" panose="020B0504050904050C04"/>
                  <a:sym typeface="Futura Display" panose="020B0504050904050C04"/>
                </a:rPr>
                <a:t>Exploratory Insights</a:t>
              </a:r>
              <a:endParaRPr lang="en-US" altLang="en-US" sz="80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12" name="TextBox 7"/>
            <p:cNvSpPr txBox="1"/>
            <p:nvPr/>
          </p:nvSpPr>
          <p:spPr>
            <a:xfrm>
              <a:off x="360" y="2100"/>
              <a:ext cx="13134" cy="1772"/>
            </a:xfrm>
            <a:prstGeom prst="rect">
              <a:avLst/>
            </a:prstGeom>
          </p:spPr>
          <p:txBody>
            <a:bodyPr wrap="square" lIns="0" tIns="0" rIns="0" bIns="0" rtlCol="0" anchor="t">
              <a:noAutofit/>
            </a:bodyPr>
            <a:lstStyle/>
            <a:p>
              <a:pPr indent="0" algn="ctr">
                <a:lnSpc>
                  <a:spcPct val="100000"/>
                </a:lnSpc>
                <a:spcBef>
                  <a:spcPct val="0"/>
                </a:spcBef>
                <a:buFont typeface="Arial" panose="020B0604020202020204" pitchFamily="34" charset="0"/>
                <a:buNone/>
              </a:pPr>
              <a:r>
                <a:rPr lang="en-US" altLang="en-US" sz="3200" b="1">
                  <a:solidFill>
                    <a:schemeClr val="bg1"/>
                  </a:solidFill>
                  <a:latin typeface="Calibri" panose="020F0502020204030204" charset="0"/>
                  <a:ea typeface="Lexend Deca"/>
                  <a:cs typeface="Calibri" panose="020F0502020204030204" charset="0"/>
                  <a:sym typeface="Lexend Deca"/>
                </a:rPr>
                <a:t>Insight 2: Preferred Restaurant Type</a:t>
              </a:r>
              <a:endParaRPr lang="en-US" altLang="en-US" sz="3200" b="1">
                <a:solidFill>
                  <a:schemeClr val="bg1"/>
                </a:solidFill>
                <a:latin typeface="Calibri" panose="020F0502020204030204" charset="0"/>
                <a:ea typeface="Lexend Deca"/>
                <a:cs typeface="Calibri" panose="020F0502020204030204" charset="0"/>
                <a:sym typeface="Lexend Deca"/>
              </a:endParaRPr>
            </a:p>
            <a:p>
              <a:pPr algn="ctr">
                <a:lnSpc>
                  <a:spcPct val="100000"/>
                </a:lnSpc>
                <a:spcBef>
                  <a:spcPct val="0"/>
                </a:spcBef>
              </a:pPr>
              <a:endParaRPr lang="en-US" altLang="en-US" sz="2400" b="1">
                <a:solidFill>
                  <a:schemeClr val="bg1"/>
                </a:solidFill>
                <a:latin typeface="Calibri" panose="020F0502020204030204" charset="0"/>
                <a:ea typeface="Lexend Deca"/>
                <a:cs typeface="Calibri" panose="020F0502020204030204" charset="0"/>
                <a:sym typeface="Lexend Deca"/>
              </a:endParaRPr>
            </a:p>
            <a:p>
              <a:pPr algn="ctr">
                <a:lnSpc>
                  <a:spcPct val="100000"/>
                </a:lnSpc>
                <a:spcBef>
                  <a:spcPct val="0"/>
                </a:spcBef>
              </a:pPr>
              <a:endParaRPr lang="en-US" altLang="en-US" sz="2400" b="1">
                <a:solidFill>
                  <a:schemeClr val="bg1"/>
                </a:solidFill>
                <a:latin typeface="Calibri" panose="020F0502020204030204" charset="0"/>
                <a:ea typeface="Lexend Deca"/>
                <a:cs typeface="Calibri" panose="020F0502020204030204" charset="0"/>
                <a:sym typeface="Lexend Deca"/>
              </a:endParaRPr>
            </a:p>
          </p:txBody>
        </p:sp>
        <p:sp>
          <p:nvSpPr>
            <p:cNvPr id="13" name="TextBox 7"/>
            <p:cNvSpPr txBox="1"/>
            <p:nvPr/>
          </p:nvSpPr>
          <p:spPr>
            <a:xfrm>
              <a:off x="840" y="3763"/>
              <a:ext cx="12463" cy="2831"/>
            </a:xfrm>
            <a:prstGeom prst="rect">
              <a:avLst/>
            </a:prstGeom>
            <a:ln>
              <a:noFill/>
            </a:ln>
          </p:spPr>
          <p:txBody>
            <a:bodyPr wrap="square" lIns="0" tIns="0" rIns="0" bIns="0" rtlCol="0" anchor="t">
              <a:noAutofit/>
            </a:bodyPr>
            <a:lstStyle/>
            <a:p>
              <a:pPr algn="l">
                <a:lnSpc>
                  <a:spcPct val="100000"/>
                </a:lnSpc>
                <a:spcBef>
                  <a:spcPct val="0"/>
                </a:spcBef>
              </a:pPr>
              <a:r>
                <a:rPr lang="en-US" altLang="en-US" sz="3200" b="1">
                  <a:solidFill>
                    <a:schemeClr val="bg1"/>
                  </a:solidFill>
                  <a:latin typeface="Calibri" panose="020F0502020204030204" charset="0"/>
                  <a:ea typeface="Lexend Deca"/>
                  <a:cs typeface="Calibri" panose="020F0502020204030204" charset="0"/>
                  <a:sym typeface="Lexend Deca"/>
                </a:rPr>
                <a:t>Visualization Used :</a:t>
              </a:r>
              <a:endParaRPr lang="en-US" altLang="en-US" sz="2800" b="1">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Bar Chart – Counts of restaurants by type (Buffet, Cafes, Dining, Other) .</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Line Chart – Total votes received by restaurants of each type.</a:t>
              </a:r>
              <a:endParaRPr lang="en-US" altLang="en-US" sz="2400">
                <a:solidFill>
                  <a:schemeClr val="bg1"/>
                </a:solidFill>
                <a:latin typeface="Calibri" panose="020F0502020204030204" charset="0"/>
                <a:ea typeface="Lexend Deca"/>
                <a:cs typeface="Calibri" panose="020F0502020204030204" charset="0"/>
                <a:sym typeface="Lexend Deca"/>
              </a:endParaRPr>
            </a:p>
          </p:txBody>
        </p:sp>
        <p:sp>
          <p:nvSpPr>
            <p:cNvPr id="14" name="TextBox 7"/>
            <p:cNvSpPr txBox="1"/>
            <p:nvPr/>
          </p:nvSpPr>
          <p:spPr>
            <a:xfrm>
              <a:off x="670" y="7243"/>
              <a:ext cx="12824" cy="4361"/>
            </a:xfrm>
            <a:prstGeom prst="rect">
              <a:avLst/>
            </a:prstGeom>
            <a:ln>
              <a:noFill/>
            </a:ln>
          </p:spPr>
          <p:txBody>
            <a:bodyPr wrap="square" lIns="0" tIns="0" rIns="0" bIns="0" rtlCol="0" anchor="t">
              <a:noAutofit/>
            </a:bodyPr>
            <a:lstStyle/>
            <a:p>
              <a:pPr algn="l">
                <a:lnSpc>
                  <a:spcPct val="100000"/>
                </a:lnSpc>
                <a:spcBef>
                  <a:spcPct val="0"/>
                </a:spcBef>
              </a:pPr>
              <a:r>
                <a:rPr lang="en-US" altLang="en-US" sz="3200" b="1">
                  <a:solidFill>
                    <a:schemeClr val="bg1"/>
                  </a:solidFill>
                  <a:latin typeface="Calibri" panose="020F0502020204030204" charset="0"/>
                  <a:ea typeface="Lexend Deca"/>
                  <a:cs typeface="Calibri" panose="020F0502020204030204" charset="0"/>
                  <a:sym typeface="Lexend Deca"/>
                </a:rPr>
                <a:t>Key Observations</a:t>
              </a:r>
              <a:endParaRPr lang="en-US" altLang="en-US" sz="28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Most restaurants are Dining, followed by Cafes; Buffet and Other are few.</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Dining restaurants get the most votes, showing high popularity.</a:t>
              </a:r>
              <a:endParaRPr lang="en-US" altLang="en-US" sz="2400">
                <a:solidFill>
                  <a:schemeClr val="bg1"/>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Cafes have moderate popularity, Buffet and Other types have low presence and engagement.</a:t>
              </a:r>
              <a:endParaRPr lang="en-US" altLang="en-US" sz="2400">
                <a:solidFill>
                  <a:schemeClr val="bg1"/>
                </a:solidFill>
                <a:latin typeface="Calibri" panose="020F0502020204030204" charset="0"/>
                <a:ea typeface="Lexend Deca"/>
                <a:cs typeface="Calibri" panose="020F0502020204030204" charset="0"/>
                <a:sym typeface="Lexend Deca"/>
              </a:endParaRPr>
            </a:p>
          </p:txBody>
        </p:sp>
        <p:sp>
          <p:nvSpPr>
            <p:cNvPr id="17" name="TextBox 7"/>
            <p:cNvSpPr txBox="1"/>
            <p:nvPr/>
          </p:nvSpPr>
          <p:spPr>
            <a:xfrm>
              <a:off x="840" y="12043"/>
              <a:ext cx="12812" cy="3303"/>
            </a:xfrm>
            <a:prstGeom prst="rect">
              <a:avLst/>
            </a:prstGeom>
            <a:ln>
              <a:noFill/>
            </a:ln>
          </p:spPr>
          <p:txBody>
            <a:bodyPr wrap="square" lIns="0" tIns="0" rIns="0" bIns="0" rtlCol="0" anchor="t">
              <a:noAutofit/>
            </a:bodyPr>
            <a:lstStyle/>
            <a:p>
              <a:pPr indent="0" algn="l">
                <a:lnSpc>
                  <a:spcPct val="100000"/>
                </a:lnSpc>
                <a:spcBef>
                  <a:spcPct val="0"/>
                </a:spcBef>
                <a:buNone/>
              </a:pPr>
              <a:r>
                <a:rPr lang="en-US" altLang="en-US" sz="3200" b="1">
                  <a:solidFill>
                    <a:schemeClr val="bg1"/>
                  </a:solidFill>
                  <a:latin typeface="Calibri" panose="020F0502020204030204" charset="0"/>
                  <a:ea typeface="Lexend Deca"/>
                  <a:cs typeface="Calibri" panose="020F0502020204030204" charset="0"/>
                  <a:sym typeface="Lexend Deca"/>
                </a:rPr>
                <a:t>Business Insight</a:t>
              </a:r>
              <a:endParaRPr lang="en-US" altLang="en-US" sz="3200" b="1">
                <a:solidFill>
                  <a:schemeClr val="bg1"/>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Customers clearly prefer Dining-type restaurants, both in terms of availability and popularity.</a:t>
              </a:r>
              <a:endParaRPr lang="en-US" altLang="en-US" sz="2400">
                <a:solidFill>
                  <a:schemeClr val="bg1"/>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bg1"/>
                  </a:solidFill>
                  <a:latin typeface="Calibri" panose="020F0502020204030204" charset="0"/>
                  <a:ea typeface="Lexend Deca"/>
                  <a:cs typeface="Calibri" panose="020F0502020204030204" charset="0"/>
                  <a:sym typeface="Lexend Deca"/>
                </a:rPr>
                <a:t>Restaurants could focus on Dining-style offerings or enhance their online visibility to attract more customers.</a:t>
              </a:r>
              <a:endParaRPr lang="en-US" altLang="en-US" sz="2400">
                <a:solidFill>
                  <a:schemeClr val="bg1"/>
                </a:solidFill>
                <a:latin typeface="Calibri" panose="020F0502020204030204" charset="0"/>
                <a:ea typeface="Lexend Deca"/>
                <a:cs typeface="Calibri" panose="020F0502020204030204" charset="0"/>
                <a:sym typeface="Lexend Deca"/>
              </a:endParaRPr>
            </a:p>
          </p:txBody>
        </p:sp>
      </p:grpSp>
      <p:pic>
        <p:nvPicPr>
          <p:cNvPr id="19" name="Picture 18" descr="resttypecountplot"/>
          <p:cNvPicPr>
            <a:picLocks noChangeAspect="1"/>
          </p:cNvPicPr>
          <p:nvPr/>
        </p:nvPicPr>
        <p:blipFill>
          <a:blip r:embed="rId1"/>
          <a:stretch>
            <a:fillRect/>
          </a:stretch>
        </p:blipFill>
        <p:spPr>
          <a:xfrm>
            <a:off x="304800" y="266700"/>
            <a:ext cx="8421370" cy="4821555"/>
          </a:xfrm>
          <a:prstGeom prst="rect">
            <a:avLst/>
          </a:prstGeom>
          <a:ln>
            <a:solidFill>
              <a:schemeClr val="tx2"/>
            </a:solidFill>
          </a:ln>
        </p:spPr>
      </p:pic>
      <p:pic>
        <p:nvPicPr>
          <p:cNvPr id="20" name="Picture 19" descr="votesplot"/>
          <p:cNvPicPr>
            <a:picLocks noChangeAspect="1"/>
          </p:cNvPicPr>
          <p:nvPr/>
        </p:nvPicPr>
        <p:blipFill>
          <a:blip r:embed="rId2"/>
          <a:stretch>
            <a:fillRect/>
          </a:stretch>
        </p:blipFill>
        <p:spPr>
          <a:xfrm>
            <a:off x="326390" y="5380355"/>
            <a:ext cx="8399780" cy="4648835"/>
          </a:xfrm>
          <a:prstGeom prst="rect">
            <a:avLst/>
          </a:prstGeom>
          <a:ln>
            <a:solidFill>
              <a:schemeClr val="tx2"/>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381980" cy="1812925"/>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3048000" y="266700"/>
            <a:ext cx="12545060" cy="1431925"/>
          </a:xfrm>
          <a:prstGeom prst="rect">
            <a:avLst/>
          </a:prstGeom>
        </p:spPr>
        <p:txBody>
          <a:bodyPr wrap="square" lIns="0" tIns="0" rIns="0" bIns="0" rtlCol="0" anchor="t">
            <a:sp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Feature Strategy </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609600" y="2079625"/>
            <a:ext cx="8068945" cy="4895850"/>
          </a:xfrm>
          <a:prstGeom prst="rect">
            <a:avLst/>
          </a:prstGeom>
        </p:spPr>
        <p:txBody>
          <a:bodyPr wrap="square" lIns="0" tIns="0" rIns="0" bIns="0" rtlCol="0" anchor="t">
            <a:noAutofit/>
          </a:bodyPr>
          <a:lstStyle/>
          <a:p>
            <a:pPr algn="l">
              <a:lnSpc>
                <a:spcPts val="5275"/>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New Variables / Features Used :</a:t>
            </a:r>
            <a:endParaRPr lang="en-US" altLang="en-US" sz="3200" b="1">
              <a:solidFill>
                <a:schemeClr val="tx2"/>
              </a:solidFill>
              <a:latin typeface="Calibri" panose="020F0502020204030204" charset="0"/>
              <a:ea typeface="Lexend Deca"/>
              <a:cs typeface="Calibri" panose="020F0502020204030204" charset="0"/>
              <a:sym typeface="Lexend Deca"/>
            </a:endParaRPr>
          </a:p>
          <a:p>
            <a:pPr marL="457200" indent="-457200" algn="l">
              <a:lnSpc>
                <a:spcPts val="5275"/>
              </a:lnSpc>
              <a:spcBef>
                <a:spcPct val="0"/>
              </a:spcBef>
              <a:buAutoNum type="arabicPeriod"/>
            </a:pPr>
            <a:r>
              <a:rPr lang="en-US" altLang="en-US" sz="2400" b="1">
                <a:solidFill>
                  <a:schemeClr val="tx2"/>
                </a:solidFill>
                <a:latin typeface="Calibri" panose="020F0502020204030204" charset="0"/>
                <a:ea typeface="Lexend Deca"/>
                <a:cs typeface="Calibri" panose="020F0502020204030204" charset="0"/>
                <a:sym typeface="Lexend Deca"/>
              </a:rPr>
              <a:t>Votes (Popularity Indicator)</a:t>
            </a:r>
            <a:endParaRPr lang="en-US" altLang="en-US" sz="2400" b="1">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Represents how many users have rated a restaurant.</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Higher votes usually mean higher customer trust and popularity of a restaurant.</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b="1">
                <a:solidFill>
                  <a:schemeClr val="tx2"/>
                </a:solidFill>
                <a:latin typeface="Calibri" panose="020F0502020204030204" charset="0"/>
                <a:ea typeface="Lexend Deca"/>
                <a:cs typeface="Calibri" panose="020F0502020204030204" charset="0"/>
                <a:sym typeface="Lexend Deca"/>
              </a:rPr>
              <a:t>     df$votes_by_type</a:t>
            </a: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Font typeface="+mj-lt"/>
              <a:buNone/>
            </a:pPr>
            <a:r>
              <a:rPr lang="en-US" altLang="en-US" sz="2400" b="1">
                <a:solidFill>
                  <a:schemeClr val="tx2"/>
                </a:solidFill>
                <a:latin typeface="Calibri" panose="020F0502020204030204" charset="0"/>
                <a:ea typeface="Lexend Deca"/>
                <a:cs typeface="Calibri" panose="020F0502020204030204" charset="0"/>
                <a:sym typeface="Lexend Deca"/>
              </a:rPr>
              <a:t>2.    Approx Cost for Two (Pricing Preference)</a:t>
            </a:r>
            <a:endParaRPr lang="en-US" altLang="en-US" sz="2400" b="1">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Shows the average spending for two people</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Helps understand affordability and couple dining behavior</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b="1">
                <a:solidFill>
                  <a:schemeClr val="tx2"/>
                </a:solidFill>
                <a:latin typeface="Calibri" panose="020F0502020204030204" charset="0"/>
                <a:ea typeface="Lexend Deca"/>
                <a:cs typeface="Calibri" panose="020F0502020204030204" charset="0"/>
                <a:sym typeface="Lexend Deca"/>
              </a:rPr>
              <a:t>     df$approx_cost_for_two_people</a:t>
            </a: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grpSp>
        <p:nvGrpSpPr>
          <p:cNvPr id="25" name="Group 24"/>
          <p:cNvGrpSpPr/>
          <p:nvPr/>
        </p:nvGrpSpPr>
        <p:grpSpPr>
          <a:xfrm>
            <a:off x="9505315" y="2839085"/>
            <a:ext cx="8275955" cy="6584315"/>
            <a:chOff x="18960" y="7380"/>
            <a:chExt cx="8277" cy="4773"/>
          </a:xfrm>
        </p:grpSpPr>
        <p:sp>
          <p:nvSpPr>
            <p:cNvPr id="20" name="Rounded Rectangle 19"/>
            <p:cNvSpPr/>
            <p:nvPr/>
          </p:nvSpPr>
          <p:spPr>
            <a:xfrm>
              <a:off x="18960" y="7380"/>
              <a:ext cx="8277" cy="4773"/>
            </a:xfrm>
            <a:prstGeom prst="roundRect">
              <a:avLst>
                <a:gd name="adj" fmla="val 8377"/>
              </a:avLst>
            </a:prstGeom>
            <a:solidFill>
              <a:srgbClr val="31356E"/>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Text Box 20"/>
            <p:cNvSpPr txBox="1"/>
            <p:nvPr/>
          </p:nvSpPr>
          <p:spPr>
            <a:xfrm>
              <a:off x="19208" y="7614"/>
              <a:ext cx="7961" cy="4225"/>
            </a:xfrm>
            <a:prstGeom prst="rect">
              <a:avLst/>
            </a:prstGeom>
            <a:noFill/>
          </p:spPr>
          <p:txBody>
            <a:bodyPr wrap="square" rtlCol="0">
              <a:noAutofit/>
            </a:bodyPr>
            <a:p>
              <a:r>
                <a:rPr lang="en-US" altLang="en-US" sz="4400" b="1">
                  <a:solidFill>
                    <a:schemeClr val="bg1"/>
                  </a:solidFill>
                </a:rPr>
                <a:t>Expected Impact on the Model</a:t>
              </a:r>
              <a:endParaRPr lang="en-US" altLang="en-US" sz="4400" b="1">
                <a:solidFill>
                  <a:schemeClr val="bg1"/>
                </a:solidFill>
              </a:endParaRPr>
            </a:p>
            <a:p>
              <a:endParaRPr lang="en-US" altLang="en-US" sz="4000" b="1">
                <a:solidFill>
                  <a:schemeClr val="bg1"/>
                </a:solidFill>
              </a:endParaRPr>
            </a:p>
            <a:p>
              <a:pPr marL="571500" indent="-571500">
                <a:buFont typeface="Arial" panose="020B0604020202020204" pitchFamily="34" charset="0"/>
                <a:buChar char="•"/>
              </a:pPr>
              <a:r>
                <a:rPr lang="en-US" altLang="en-US" sz="3200">
                  <a:solidFill>
                    <a:schemeClr val="bg1"/>
                  </a:solidFill>
                </a:rPr>
                <a:t>Understand Zomato customer behavior better.</a:t>
              </a:r>
              <a:endParaRPr lang="en-US" altLang="en-US" sz="3200">
                <a:solidFill>
                  <a:schemeClr val="bg1"/>
                </a:solidFill>
              </a:endParaRPr>
            </a:p>
            <a:p>
              <a:pPr indent="0">
                <a:buFont typeface="Arial" panose="020B0604020202020204" pitchFamily="34" charset="0"/>
                <a:buNone/>
              </a:pPr>
              <a:endParaRPr lang="en-US" altLang="en-US" sz="3200">
                <a:solidFill>
                  <a:schemeClr val="bg1"/>
                </a:solidFill>
              </a:endParaRPr>
            </a:p>
            <a:p>
              <a:pPr marL="571500" indent="-571500">
                <a:buFont typeface="Arial" panose="020B0604020202020204" pitchFamily="34" charset="0"/>
                <a:buChar char="•"/>
              </a:pPr>
              <a:r>
                <a:rPr lang="en-US" altLang="en-US" sz="3200">
                  <a:solidFill>
                    <a:schemeClr val="bg1"/>
                  </a:solidFill>
                </a:rPr>
                <a:t>Predict restaurant ratings more accurately.</a:t>
              </a:r>
              <a:endParaRPr lang="en-US" altLang="en-US" sz="3200">
                <a:solidFill>
                  <a:schemeClr val="bg1"/>
                </a:solidFill>
              </a:endParaRPr>
            </a:p>
            <a:p>
              <a:pPr marL="571500" indent="-571500">
                <a:buFont typeface="Arial" panose="020B0604020202020204" pitchFamily="34" charset="0"/>
                <a:buChar char="•"/>
              </a:pPr>
              <a:endParaRPr lang="en-US" altLang="en-US" sz="3200">
                <a:solidFill>
                  <a:schemeClr val="bg1"/>
                </a:solidFill>
              </a:endParaRPr>
            </a:p>
            <a:p>
              <a:pPr marL="571500" indent="-571500">
                <a:buFont typeface="Arial" panose="020B0604020202020204" pitchFamily="34" charset="0"/>
                <a:buChar char="•"/>
              </a:pPr>
              <a:r>
                <a:rPr lang="en-US" altLang="en-US" sz="3200">
                  <a:solidFill>
                    <a:schemeClr val="bg1"/>
                  </a:solidFill>
                </a:rPr>
                <a:t>Identify popular yet affordable restaurants.</a:t>
              </a:r>
              <a:endParaRPr lang="en-US" altLang="en-US" sz="3200">
                <a:solidFill>
                  <a:schemeClr val="bg1"/>
                </a:solidFill>
              </a:endParaRPr>
            </a:p>
            <a:p>
              <a:pPr marL="571500" indent="-571500">
                <a:buFont typeface="Arial" panose="020B0604020202020204" pitchFamily="34" charset="0"/>
                <a:buChar char="•"/>
              </a:pPr>
              <a:endParaRPr lang="en-US" altLang="en-US" sz="3200">
                <a:solidFill>
                  <a:schemeClr val="bg1"/>
                </a:solidFill>
              </a:endParaRPr>
            </a:p>
            <a:p>
              <a:pPr marL="571500" indent="-571500">
                <a:buFont typeface="Arial" panose="020B0604020202020204" pitchFamily="34" charset="0"/>
                <a:buChar char="•"/>
              </a:pPr>
              <a:r>
                <a:rPr lang="en-US" altLang="en-US" sz="3200">
                  <a:solidFill>
                    <a:schemeClr val="bg1"/>
                  </a:solidFill>
                </a:rPr>
                <a:t>Capture real-world factors affecting  restaurant success.</a:t>
              </a:r>
              <a:endParaRPr lang="en-US" altLang="en-US" sz="3200">
                <a:solidFill>
                  <a:schemeClr val="bg1"/>
                </a:solidFill>
              </a:endParaRPr>
            </a:p>
          </p:txBody>
        </p:sp>
      </p:grpSp>
      <p:sp>
        <p:nvSpPr>
          <p:cNvPr id="26" name="Text Box 25"/>
          <p:cNvSpPr txBox="1"/>
          <p:nvPr/>
        </p:nvSpPr>
        <p:spPr>
          <a:xfrm>
            <a:off x="533400" y="7277100"/>
            <a:ext cx="8235315" cy="2430145"/>
          </a:xfrm>
          <a:prstGeom prst="rect">
            <a:avLst/>
          </a:prstGeom>
          <a:noFill/>
        </p:spPr>
        <p:txBody>
          <a:bodyPr wrap="square" rtlCol="0">
            <a:spAutoFit/>
          </a:bodyPr>
          <a:p>
            <a:pPr indent="0">
              <a:lnSpc>
                <a:spcPct val="100000"/>
              </a:lnSpc>
              <a:buFont typeface="Wingdings" panose="05000000000000000000" charset="0"/>
              <a:buNone/>
            </a:pPr>
            <a:r>
              <a:rPr lang="en-US" altLang="en-US" sz="3200" b="1">
                <a:solidFill>
                  <a:schemeClr val="tx2"/>
                </a:solidFill>
              </a:rPr>
              <a:t>Why These Features Were Important</a:t>
            </a:r>
            <a:endParaRPr lang="en-US" altLang="en-US" sz="2400">
              <a:solidFill>
                <a:schemeClr val="tx2"/>
              </a:solidFill>
            </a:endParaRPr>
          </a:p>
          <a:p>
            <a:pPr marL="342900" indent="-342900">
              <a:lnSpc>
                <a:spcPct val="100000"/>
              </a:lnSpc>
              <a:buFont typeface="Arial" panose="020B0604020202020204" pitchFamily="34" charset="0"/>
              <a:buChar char="•"/>
            </a:pPr>
            <a:r>
              <a:rPr lang="en-US" altLang="en-US" sz="2400">
                <a:solidFill>
                  <a:schemeClr val="tx2"/>
                </a:solidFill>
              </a:rPr>
              <a:t>Ratings alone are not enough to judge restaurant performance.</a:t>
            </a:r>
            <a:endParaRPr lang="en-US" altLang="en-US" sz="2400">
              <a:solidFill>
                <a:schemeClr val="tx2"/>
              </a:solidFill>
            </a:endParaRPr>
          </a:p>
          <a:p>
            <a:pPr marL="342900" indent="-342900">
              <a:lnSpc>
                <a:spcPct val="100000"/>
              </a:lnSpc>
              <a:buFont typeface="Arial" panose="020B0604020202020204" pitchFamily="34" charset="0"/>
              <a:buChar char="•"/>
            </a:pPr>
            <a:r>
              <a:rPr lang="en-US" altLang="en-US" sz="2400">
                <a:solidFill>
                  <a:schemeClr val="tx2"/>
                </a:solidFill>
              </a:rPr>
              <a:t>Votes explain popularity.</a:t>
            </a:r>
            <a:endParaRPr lang="en-US" altLang="en-US" sz="2400">
              <a:solidFill>
                <a:schemeClr val="tx2"/>
              </a:solidFill>
            </a:endParaRPr>
          </a:p>
          <a:p>
            <a:pPr marL="342900" indent="-342900">
              <a:lnSpc>
                <a:spcPct val="100000"/>
              </a:lnSpc>
              <a:buFont typeface="Arial" panose="020B0604020202020204" pitchFamily="34" charset="0"/>
              <a:buChar char="•"/>
            </a:pPr>
            <a:r>
              <a:rPr lang="en-US" altLang="en-US" sz="2400">
                <a:solidFill>
                  <a:schemeClr val="tx2"/>
                </a:solidFill>
              </a:rPr>
              <a:t>Cost for two explains customer affordability.</a:t>
            </a:r>
            <a:endParaRPr lang="en-US" altLang="en-US" sz="2400">
              <a:solidFill>
                <a:schemeClr val="tx2"/>
              </a:solidFill>
            </a:endParaRPr>
          </a:p>
          <a:p>
            <a:pPr marL="342900" indent="-342900">
              <a:lnSpc>
                <a:spcPct val="100000"/>
              </a:lnSpc>
              <a:buFont typeface="Arial" panose="020B0604020202020204" pitchFamily="34" charset="0"/>
              <a:buChar char="•"/>
            </a:pPr>
            <a:r>
              <a:rPr lang="en-US" altLang="en-US" sz="2400">
                <a:solidFill>
                  <a:schemeClr val="tx2"/>
                </a:solidFill>
              </a:rPr>
              <a:t>Restaurant type explains dining preferences.</a:t>
            </a:r>
            <a:endParaRPr lang="en-US" altLang="en-US" sz="2400">
              <a:solidFill>
                <a:schemeClr val="tx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381980" cy="1812925"/>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3048000" y="266700"/>
            <a:ext cx="12545060" cy="1431925"/>
          </a:xfrm>
          <a:prstGeom prst="rect">
            <a:avLst/>
          </a:prstGeom>
        </p:spPr>
        <p:txBody>
          <a:bodyPr wrap="square" lIns="0" tIns="0" rIns="0" bIns="0" rtlCol="0" anchor="t">
            <a:sp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Modeling Approach </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609600" y="2079625"/>
            <a:ext cx="10229850" cy="653415"/>
          </a:xfrm>
          <a:prstGeom prst="rect">
            <a:avLst/>
          </a:prstGeom>
        </p:spPr>
        <p:txBody>
          <a:bodyPr wrap="square" lIns="0" tIns="0" rIns="0" bIns="0" rtlCol="0" anchor="t">
            <a:noAutofit/>
          </a:bodyPr>
          <a:lstStyle/>
          <a:p>
            <a:pPr indent="0" algn="l">
              <a:lnSpc>
                <a:spcPts val="5275"/>
              </a:lnSpc>
              <a:spcBef>
                <a:spcPct val="0"/>
              </a:spcBef>
              <a:buNone/>
            </a:pPr>
            <a:r>
              <a:rPr lang="en-US" altLang="en-US" sz="3600" b="1">
                <a:solidFill>
                  <a:schemeClr val="tx2"/>
                </a:solidFill>
                <a:latin typeface="Calibri" panose="020F0502020204030204" charset="0"/>
                <a:ea typeface="Lexend Deca"/>
                <a:cs typeface="Calibri" panose="020F0502020204030204" charset="0"/>
                <a:sym typeface="Lexend Deca"/>
              </a:rPr>
              <a:t>Linear Regression Model</a:t>
            </a:r>
            <a:endParaRPr lang="en-US" altLang="en-US" sz="36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
        <p:nvSpPr>
          <p:cNvPr id="26" name="Text Box 25"/>
          <p:cNvSpPr txBox="1"/>
          <p:nvPr/>
        </p:nvSpPr>
        <p:spPr>
          <a:xfrm>
            <a:off x="533400" y="7658100"/>
            <a:ext cx="16673195" cy="1691640"/>
          </a:xfrm>
          <a:prstGeom prst="rect">
            <a:avLst/>
          </a:prstGeom>
          <a:noFill/>
        </p:spPr>
        <p:txBody>
          <a:bodyPr wrap="square" rtlCol="0">
            <a:spAutoFit/>
          </a:bodyPr>
          <a:p>
            <a:pPr indent="0">
              <a:lnSpc>
                <a:spcPct val="100000"/>
              </a:lnSpc>
              <a:buNone/>
            </a:pPr>
            <a:r>
              <a:rPr lang="en-US" altLang="en-US" sz="3200" b="1">
                <a:solidFill>
                  <a:schemeClr val="tx2"/>
                </a:solidFill>
              </a:rPr>
              <a:t>Alternative Considered:</a:t>
            </a:r>
            <a:endParaRPr lang="en-US" altLang="en-US" sz="3200" b="1">
              <a:solidFill>
                <a:schemeClr val="tx2"/>
              </a:solidFill>
            </a:endParaRPr>
          </a:p>
          <a:p>
            <a:pPr marL="342900" indent="-342900">
              <a:lnSpc>
                <a:spcPct val="100000"/>
              </a:lnSpc>
              <a:buFont typeface="Arial" panose="020B0604020202020204" pitchFamily="34" charset="0"/>
              <a:buChar char="•"/>
            </a:pPr>
            <a:r>
              <a:rPr lang="en-US" altLang="en-US" sz="2400">
                <a:solidFill>
                  <a:schemeClr val="tx2"/>
                </a:solidFill>
              </a:rPr>
              <a:t>Linear Regression was chosen over Random Forest because it provides clear and easily interpretable insights into how factors like votes and cost affect restaurant ratings.</a:t>
            </a:r>
            <a:endParaRPr lang="en-US" altLang="en-US" sz="2400">
              <a:solidFill>
                <a:schemeClr val="tx2"/>
              </a:solidFill>
            </a:endParaRPr>
          </a:p>
          <a:p>
            <a:pPr marL="342900" indent="-342900">
              <a:lnSpc>
                <a:spcPct val="100000"/>
              </a:lnSpc>
              <a:buFont typeface="Arial" panose="020B0604020202020204" pitchFamily="34" charset="0"/>
              <a:buChar char="•"/>
            </a:pPr>
            <a:r>
              <a:rPr lang="en-US" altLang="en-US" sz="2400">
                <a:solidFill>
                  <a:schemeClr val="tx2"/>
                </a:solidFill>
              </a:rPr>
              <a:t>Random Forest, although powerful, acts as a black-box model and was avoided to keep the analysis simple and business-friendly.</a:t>
            </a:r>
            <a:endParaRPr lang="en-US" altLang="en-US" sz="2400">
              <a:solidFill>
                <a:schemeClr val="tx2"/>
              </a:solidFill>
            </a:endParaRPr>
          </a:p>
        </p:txBody>
      </p:sp>
      <p:grpSp>
        <p:nvGrpSpPr>
          <p:cNvPr id="9" name="Group 8"/>
          <p:cNvGrpSpPr/>
          <p:nvPr/>
        </p:nvGrpSpPr>
        <p:grpSpPr>
          <a:xfrm>
            <a:off x="6629400" y="3543300"/>
            <a:ext cx="5139055" cy="3721735"/>
            <a:chOff x="360" y="4860"/>
            <a:chExt cx="7508" cy="5861"/>
          </a:xfrm>
        </p:grpSpPr>
        <p:sp>
          <p:nvSpPr>
            <p:cNvPr id="14" name="Freeform 14"/>
            <p:cNvSpPr/>
            <p:nvPr/>
          </p:nvSpPr>
          <p:spPr>
            <a:xfrm>
              <a:off x="360" y="4860"/>
              <a:ext cx="7508" cy="586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solidFill>
          </p:spPr>
        </p:sp>
        <p:sp>
          <p:nvSpPr>
            <p:cNvPr id="8" name="Text Box 7"/>
            <p:cNvSpPr txBox="1"/>
            <p:nvPr/>
          </p:nvSpPr>
          <p:spPr>
            <a:xfrm>
              <a:off x="1072" y="5168"/>
              <a:ext cx="5957" cy="4506"/>
            </a:xfrm>
            <a:prstGeom prst="rect">
              <a:avLst/>
            </a:prstGeom>
            <a:noFill/>
          </p:spPr>
          <p:txBody>
            <a:bodyPr wrap="square" rtlCol="0">
              <a:spAutoFit/>
            </a:bodyPr>
            <a:p>
              <a:pPr algn="ctr"/>
              <a:r>
                <a:rPr lang="en-US" altLang="en-US" sz="2800" b="1">
                  <a:solidFill>
                    <a:schemeClr val="bg1"/>
                  </a:solidFill>
                </a:rPr>
                <a:t>02</a:t>
              </a:r>
              <a:endParaRPr lang="en-US" altLang="en-US" sz="2800" b="1">
                <a:solidFill>
                  <a:schemeClr val="bg1"/>
                </a:solidFill>
              </a:endParaRPr>
            </a:p>
            <a:p>
              <a:pPr algn="ctr"/>
              <a:r>
                <a:rPr lang="en-US" altLang="en-US" sz="2800" b="1">
                  <a:solidFill>
                    <a:schemeClr val="bg1"/>
                  </a:solidFill>
                </a:rPr>
                <a:t>Suitable for Numeric Prediction</a:t>
              </a:r>
              <a:endParaRPr lang="en-US" altLang="en-US" sz="2800" b="1">
                <a:solidFill>
                  <a:schemeClr val="bg1"/>
                </a:solidFill>
              </a:endParaRPr>
            </a:p>
            <a:p>
              <a:pPr algn="ctr"/>
              <a:r>
                <a:rPr lang="en-US" altLang="en-US" sz="2400">
                  <a:solidFill>
                    <a:schemeClr val="bg1"/>
                  </a:solidFill>
                </a:rPr>
                <a:t>Restaurant ratings are continuous numeric values, making Linear Regression a natural and effective choice.</a:t>
              </a:r>
              <a:endParaRPr lang="en-US" altLang="en-US" sz="2400">
                <a:solidFill>
                  <a:schemeClr val="bg1"/>
                </a:solidFill>
              </a:endParaRPr>
            </a:p>
          </p:txBody>
        </p:sp>
      </p:grpSp>
      <p:grpSp>
        <p:nvGrpSpPr>
          <p:cNvPr id="19" name="Group 18"/>
          <p:cNvGrpSpPr/>
          <p:nvPr/>
        </p:nvGrpSpPr>
        <p:grpSpPr>
          <a:xfrm>
            <a:off x="758190" y="3619500"/>
            <a:ext cx="5139055" cy="3721735"/>
            <a:chOff x="360" y="4860"/>
            <a:chExt cx="7508" cy="5861"/>
          </a:xfrm>
        </p:grpSpPr>
        <p:sp>
          <p:nvSpPr>
            <p:cNvPr id="22" name="Freeform 14"/>
            <p:cNvSpPr/>
            <p:nvPr/>
          </p:nvSpPr>
          <p:spPr>
            <a:xfrm>
              <a:off x="360" y="4860"/>
              <a:ext cx="7508" cy="586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solidFill>
          </p:spPr>
        </p:sp>
        <p:sp>
          <p:nvSpPr>
            <p:cNvPr id="23" name="Text Box 22"/>
            <p:cNvSpPr txBox="1"/>
            <p:nvPr/>
          </p:nvSpPr>
          <p:spPr>
            <a:xfrm>
              <a:off x="849" y="5100"/>
              <a:ext cx="6345" cy="4409"/>
            </a:xfrm>
            <a:prstGeom prst="rect">
              <a:avLst/>
            </a:prstGeom>
            <a:noFill/>
          </p:spPr>
          <p:txBody>
            <a:bodyPr wrap="square" rtlCol="0">
              <a:spAutoFit/>
            </a:bodyPr>
            <a:p>
              <a:pPr algn="ctr"/>
              <a:r>
                <a:rPr lang="en-US" altLang="en-US" sz="2800" b="1">
                  <a:solidFill>
                    <a:schemeClr val="bg1"/>
                  </a:solidFill>
                </a:rPr>
                <a:t>01</a:t>
              </a:r>
              <a:endParaRPr lang="en-US" altLang="en-US" sz="2800" b="1">
                <a:solidFill>
                  <a:schemeClr val="bg1"/>
                </a:solidFill>
              </a:endParaRPr>
            </a:p>
            <a:p>
              <a:pPr algn="ctr"/>
              <a:r>
                <a:rPr lang="en-US" altLang="en-US" sz="2800" b="1">
                  <a:solidFill>
                    <a:schemeClr val="bg1"/>
                  </a:solidFill>
                </a:rPr>
                <a:t>Interpretability</a:t>
              </a:r>
              <a:endParaRPr lang="en-US" altLang="en-US" sz="2800" b="1">
                <a:solidFill>
                  <a:schemeClr val="bg1"/>
                </a:solidFill>
              </a:endParaRPr>
            </a:p>
            <a:p>
              <a:pPr algn="ctr"/>
              <a:r>
                <a:rPr lang="en-US" altLang="en-US" sz="2400">
                  <a:solidFill>
                    <a:schemeClr val="bg1"/>
                  </a:solidFill>
                </a:rPr>
                <a:t>Linear Regression clearly explains how each factor (votes, cost) influences restaurant ratings, making results easy to understand for zomato users.</a:t>
              </a:r>
              <a:endParaRPr lang="en-US" altLang="en-US" sz="2400">
                <a:solidFill>
                  <a:schemeClr val="bg1"/>
                </a:solidFill>
              </a:endParaRPr>
            </a:p>
          </p:txBody>
        </p:sp>
      </p:grpSp>
      <p:grpSp>
        <p:nvGrpSpPr>
          <p:cNvPr id="24" name="Group 23"/>
          <p:cNvGrpSpPr/>
          <p:nvPr/>
        </p:nvGrpSpPr>
        <p:grpSpPr>
          <a:xfrm>
            <a:off x="12496800" y="3543300"/>
            <a:ext cx="5139055" cy="3721735"/>
            <a:chOff x="360" y="4860"/>
            <a:chExt cx="7508" cy="5861"/>
          </a:xfrm>
        </p:grpSpPr>
        <p:sp>
          <p:nvSpPr>
            <p:cNvPr id="27" name="Freeform 14"/>
            <p:cNvSpPr/>
            <p:nvPr/>
          </p:nvSpPr>
          <p:spPr>
            <a:xfrm>
              <a:off x="360" y="4860"/>
              <a:ext cx="7508" cy="586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solidFill>
          </p:spPr>
        </p:sp>
        <p:sp>
          <p:nvSpPr>
            <p:cNvPr id="28" name="Text Box 27"/>
            <p:cNvSpPr txBox="1"/>
            <p:nvPr/>
          </p:nvSpPr>
          <p:spPr>
            <a:xfrm>
              <a:off x="1367" y="5460"/>
              <a:ext cx="5496" cy="4506"/>
            </a:xfrm>
            <a:prstGeom prst="rect">
              <a:avLst/>
            </a:prstGeom>
            <a:noFill/>
          </p:spPr>
          <p:txBody>
            <a:bodyPr wrap="square" rtlCol="0">
              <a:spAutoFit/>
            </a:bodyPr>
            <a:p>
              <a:pPr algn="ctr"/>
              <a:r>
                <a:rPr lang="en-US" altLang="en-US" sz="2800" b="1">
                  <a:solidFill>
                    <a:schemeClr val="bg1"/>
                  </a:solidFill>
                </a:rPr>
                <a:t>03</a:t>
              </a:r>
              <a:endParaRPr lang="en-US" altLang="en-US" sz="2800" b="1">
                <a:solidFill>
                  <a:schemeClr val="bg1"/>
                </a:solidFill>
              </a:endParaRPr>
            </a:p>
            <a:p>
              <a:pPr algn="ctr"/>
              <a:r>
                <a:rPr lang="en-US" altLang="en-US" sz="2800" b="1">
                  <a:solidFill>
                    <a:schemeClr val="bg1"/>
                  </a:solidFill>
                </a:rPr>
                <a:t>Baseline &amp; Comparison Mode</a:t>
              </a:r>
              <a:r>
                <a:rPr lang="en-US" altLang="en-US" sz="2800">
                  <a:solidFill>
                    <a:schemeClr val="bg1"/>
                  </a:solidFill>
                </a:rPr>
                <a:t>l</a:t>
              </a:r>
              <a:endParaRPr lang="en-US" altLang="en-US" sz="2800">
                <a:solidFill>
                  <a:schemeClr val="bg1"/>
                </a:solidFill>
              </a:endParaRPr>
            </a:p>
            <a:p>
              <a:pPr algn="ctr"/>
              <a:r>
                <a:rPr lang="en-US" altLang="en-US" sz="2400">
                  <a:solidFill>
                    <a:schemeClr val="bg1"/>
                  </a:solidFill>
                </a:rPr>
                <a:t>The model serves as a strong baseline before using complex algorithms like Random Forest.</a:t>
              </a:r>
              <a:endParaRPr lang="en-US" altLang="en-US" sz="2400">
                <a:solidFill>
                  <a:schemeClr val="bg1"/>
                </a:solidFill>
              </a:endParaRPr>
            </a:p>
          </p:txBody>
        </p:sp>
      </p:grpSp>
      <p:sp>
        <p:nvSpPr>
          <p:cNvPr id="29" name="TextBox 7"/>
          <p:cNvSpPr txBox="1"/>
          <p:nvPr/>
        </p:nvSpPr>
        <p:spPr>
          <a:xfrm>
            <a:off x="685800" y="2781300"/>
            <a:ext cx="3286760" cy="759460"/>
          </a:xfrm>
          <a:prstGeom prst="rect">
            <a:avLst/>
          </a:prstGeom>
        </p:spPr>
        <p:txBody>
          <a:bodyPr wrap="square" lIns="0" tIns="0" rIns="0" bIns="0" rtlCol="0" anchor="t">
            <a:noAutofit/>
          </a:bodyPr>
          <a:lstStyle/>
          <a:p>
            <a:pPr indent="0" algn="l">
              <a:lnSpc>
                <a:spcPts val="5275"/>
              </a:lnSpc>
              <a:spcBef>
                <a:spcPct val="0"/>
              </a:spcBef>
              <a:buNone/>
            </a:pPr>
            <a:r>
              <a:rPr lang="en-US" altLang="en-US" sz="2800" b="1">
                <a:solidFill>
                  <a:schemeClr val="tx2"/>
                </a:solidFill>
                <a:latin typeface="Calibri" panose="020F0502020204030204" charset="0"/>
                <a:ea typeface="Lexend Deca"/>
                <a:cs typeface="Calibri" panose="020F0502020204030204" charset="0"/>
                <a:sym typeface="Lexend Deca"/>
              </a:rPr>
              <a:t>Why This Model?</a:t>
            </a: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439130" cy="1950085"/>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222250" y="182880"/>
            <a:ext cx="17873345" cy="1991360"/>
          </a:xfrm>
          <a:prstGeom prst="rect">
            <a:avLst/>
          </a:prstGeom>
        </p:spPr>
        <p:txBody>
          <a:bodyPr wrap="square" lIns="0" tIns="0" rIns="0" bIns="0" rtlCol="0" anchor="t">
            <a:no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Model Evaluation</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533400" y="2324100"/>
            <a:ext cx="9424670" cy="7653020"/>
          </a:xfrm>
          <a:prstGeom prst="rect">
            <a:avLst/>
          </a:prstGeom>
        </p:spPr>
        <p:txBody>
          <a:bodyPr wrap="square" lIns="0" tIns="0" rIns="0" bIns="0" rtlCol="0" anchor="t">
            <a:noAutofit/>
          </a:bodyPr>
          <a:lstStyle/>
          <a:p>
            <a:pPr algn="l">
              <a:lnSpc>
                <a:spcPct val="100000"/>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Evaluation Metric Used:</a:t>
            </a: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RMSE (Root Mean Square Error)</a:t>
            </a:r>
            <a:endParaRPr lang="en-US" altLang="en-US" sz="32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RMSE (Root Mean Square Error) was used to evaluate the performance of the Linear Regression model.</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The model was tested on unseen data to compare predicted restaurant ratings with actual ratings.</a:t>
            </a:r>
            <a:endParaRPr lang="en-US" altLang="en-US" sz="2400">
              <a:solidFill>
                <a:schemeClr val="tx2"/>
              </a:solidFill>
              <a:latin typeface="Calibri" panose="020F0502020204030204" charset="0"/>
              <a:ea typeface="Lexend Deca"/>
              <a:cs typeface="Calibri" panose="020F0502020204030204" charset="0"/>
              <a:sym typeface="Lexend Deca"/>
            </a:endParaRPr>
          </a:p>
          <a:p>
            <a:pPr marL="342900" indent="-3429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RMSE measures the average prediction error in rating values</a:t>
            </a:r>
            <a:endParaRPr lang="en-US" altLang="en-US" sz="24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Font typeface="Arial" panose="020B0604020202020204" pitchFamily="34" charset="0"/>
              <a:buNone/>
            </a:pPr>
            <a:endParaRPr lang="en-US" altLang="en-US" sz="28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Font typeface="Arial" panose="020B0604020202020204" pitchFamily="34" charset="0"/>
              <a:buNone/>
            </a:pPr>
            <a:r>
              <a:rPr lang="en-US" altLang="en-US" sz="3200" b="1">
                <a:solidFill>
                  <a:schemeClr val="tx2"/>
                </a:solidFill>
                <a:latin typeface="Calibri" panose="020F0502020204030204" charset="0"/>
                <a:ea typeface="Lexend Deca"/>
                <a:cs typeface="Calibri" panose="020F0502020204030204" charset="0"/>
                <a:sym typeface="Lexend Deca"/>
              </a:rPr>
              <a:t>Did the Model Work?</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The Linear Regression model produced a reasonably low RMSE, indicating acceptable prediction accuracy.</a:t>
            </a:r>
            <a:endParaRPr lang="en-US" altLang="en-US" sz="24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Predictions followed the overall trend of actual ratings, showing the model learned meaningful relationships.</a:t>
            </a:r>
            <a:endParaRPr lang="en-US" altLang="en-US" sz="24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endParaRPr lang="en-US" altLang="en-US" sz="28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r>
              <a:rPr lang="en-US" altLang="en-US" sz="3200" b="1">
                <a:solidFill>
                  <a:schemeClr val="tx2"/>
                </a:solidFill>
                <a:latin typeface="Calibri" panose="020F0502020204030204" charset="0"/>
                <a:ea typeface="Lexend Deca"/>
                <a:cs typeface="Calibri" panose="020F0502020204030204" charset="0"/>
                <a:sym typeface="Lexend Deca"/>
              </a:rPr>
              <a:t>Conclusion</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The model performs well as a baseline regression model</a:t>
            </a:r>
            <a:endParaRPr lang="en-US" altLang="en-US" sz="24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400">
                <a:solidFill>
                  <a:schemeClr val="tx2"/>
                </a:solidFill>
                <a:latin typeface="Calibri" panose="020F0502020204030204" charset="0"/>
                <a:ea typeface="Lexend Deca"/>
                <a:cs typeface="Calibri" panose="020F0502020204030204" charset="0"/>
                <a:sym typeface="Lexend Deca"/>
              </a:rPr>
              <a:t>It effectively explains how votes and pricing influence restaurant ratings, though more complex models could further improve accuracy</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pic>
        <p:nvPicPr>
          <p:cNvPr id="6" name="Picture 5" descr="prediction"/>
          <p:cNvPicPr>
            <a:picLocks noChangeAspect="1"/>
          </p:cNvPicPr>
          <p:nvPr/>
        </p:nvPicPr>
        <p:blipFill>
          <a:blip r:embed="rId1"/>
          <a:stretch>
            <a:fillRect/>
          </a:stretch>
        </p:blipFill>
        <p:spPr>
          <a:xfrm>
            <a:off x="10058400" y="3009900"/>
            <a:ext cx="7995285" cy="62915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439130" cy="2681605"/>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222250" y="182880"/>
            <a:ext cx="17873345" cy="1991360"/>
          </a:xfrm>
          <a:prstGeom prst="rect">
            <a:avLst/>
          </a:prstGeom>
        </p:spPr>
        <p:txBody>
          <a:bodyPr wrap="square" lIns="0" tIns="0" rIns="0" bIns="0" rtlCol="0" anchor="t">
            <a:no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The "So What?" </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a:p>
            <a:pPr algn="ctr">
              <a:lnSpc>
                <a:spcPct val="100000"/>
              </a:lnSpc>
            </a:pPr>
            <a:r>
              <a:rPr lang="en-US" altLang="en-US" sz="6000">
                <a:solidFill>
                  <a:srgbClr val="FFFFFF"/>
                </a:solidFill>
                <a:latin typeface="Futura Display" panose="020B0504050904050C04"/>
                <a:ea typeface="Futura Display" panose="020B0504050904050C04"/>
                <a:cs typeface="Futura Display" panose="020B0504050904050C04"/>
                <a:sym typeface="Futura Display" panose="020B0504050904050C04"/>
              </a:rPr>
              <a:t>Actionable Business Recommendations</a:t>
            </a:r>
            <a:endParaRPr lang="en-US" altLang="en-US" sz="60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838200" y="3390900"/>
            <a:ext cx="16812895" cy="6250940"/>
          </a:xfrm>
          <a:prstGeom prst="rect">
            <a:avLst/>
          </a:prstGeom>
        </p:spPr>
        <p:txBody>
          <a:bodyPr wrap="square" lIns="0" tIns="0" rIns="0" bIns="0" rtlCol="0" anchor="t">
            <a:noAutofit/>
          </a:bodyPr>
          <a:lstStyle/>
          <a:p>
            <a:pPr algn="l">
              <a:lnSpc>
                <a:spcPct val="100000"/>
              </a:lnSpc>
              <a:spcBef>
                <a:spcPct val="0"/>
              </a:spcBef>
            </a:pPr>
            <a:r>
              <a:rPr lang="en-US" altLang="en-US" sz="2800" b="1">
                <a:solidFill>
                  <a:schemeClr val="tx2"/>
                </a:solidFill>
                <a:latin typeface="Calibri" panose="020F0502020204030204" charset="0"/>
                <a:ea typeface="Lexend Deca"/>
                <a:cs typeface="Calibri" panose="020F0502020204030204" charset="0"/>
                <a:sym typeface="Lexend Deca"/>
              </a:rPr>
              <a:t>1. Expand Online Ordering Presence</a:t>
            </a: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a:solidFill>
                  <a:schemeClr val="tx2"/>
                </a:solidFill>
                <a:latin typeface="Calibri" panose="020F0502020204030204" charset="0"/>
                <a:ea typeface="Lexend Deca"/>
                <a:cs typeface="Calibri" panose="020F0502020204030204" charset="0"/>
                <a:sym typeface="Lexend Deca"/>
              </a:rPr>
              <a:t>Restaurants offering online delivery consistently show higher and more stable ratings.</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b="1">
                <a:solidFill>
                  <a:schemeClr val="tx2"/>
                </a:solidFill>
                <a:latin typeface="Calibri" panose="020F0502020204030204" charset="0"/>
                <a:ea typeface="Lexend Deca"/>
                <a:cs typeface="Calibri" panose="020F0502020204030204" charset="0"/>
                <a:sym typeface="Lexend Deca"/>
              </a:rPr>
              <a:t>Action: </a:t>
            </a:r>
            <a:r>
              <a:rPr lang="en-US" altLang="en-US" sz="2400">
                <a:solidFill>
                  <a:schemeClr val="tx2"/>
                </a:solidFill>
                <a:latin typeface="Calibri" panose="020F0502020204030204" charset="0"/>
                <a:ea typeface="Lexend Deca"/>
                <a:cs typeface="Calibri" panose="020F0502020204030204" charset="0"/>
                <a:sym typeface="Lexend Deca"/>
              </a:rPr>
              <a:t>Zomato should encourage offline-only restaurants to adopt online ordering through incentives and onboarding support.</a:t>
            </a: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800" b="1">
                <a:solidFill>
                  <a:schemeClr val="tx2"/>
                </a:solidFill>
                <a:latin typeface="Calibri" panose="020F0502020204030204" charset="0"/>
                <a:ea typeface="Lexend Deca"/>
                <a:cs typeface="Calibri" panose="020F0502020204030204" charset="0"/>
                <a:sym typeface="Lexend Deca"/>
              </a:rPr>
              <a:t>2. Promote Popular Restaurant Types Strategically</a:t>
            </a: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a:solidFill>
                  <a:schemeClr val="tx2"/>
                </a:solidFill>
                <a:latin typeface="Calibri" panose="020F0502020204030204" charset="0"/>
                <a:ea typeface="Lexend Deca"/>
                <a:cs typeface="Calibri" panose="020F0502020204030204" charset="0"/>
                <a:sym typeface="Lexend Deca"/>
              </a:rPr>
              <a:t>Certain restaurant types receive higher engagement and votes from customers.</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b="1">
                <a:solidFill>
                  <a:schemeClr val="tx2"/>
                </a:solidFill>
                <a:latin typeface="Calibri" panose="020F0502020204030204" charset="0"/>
                <a:ea typeface="Lexend Deca"/>
                <a:cs typeface="Calibri" panose="020F0502020204030204" charset="0"/>
                <a:sym typeface="Lexend Deca"/>
              </a:rPr>
              <a:t>Action:</a:t>
            </a:r>
            <a:r>
              <a:rPr lang="en-US" altLang="en-US" sz="2400">
                <a:solidFill>
                  <a:schemeClr val="tx2"/>
                </a:solidFill>
                <a:latin typeface="Calibri" panose="020F0502020204030204" charset="0"/>
                <a:ea typeface="Lexend Deca"/>
                <a:cs typeface="Calibri" panose="020F0502020204030204" charset="0"/>
                <a:sym typeface="Lexend Deca"/>
              </a:rPr>
              <a:t> Invest in menu optimization and marketing for these popular types to attract more customers.</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800" b="1">
                <a:solidFill>
                  <a:schemeClr val="tx2"/>
                </a:solidFill>
                <a:latin typeface="Calibri" panose="020F0502020204030204" charset="0"/>
                <a:ea typeface="Lexend Deca"/>
                <a:cs typeface="Calibri" panose="020F0502020204030204" charset="0"/>
                <a:sym typeface="Lexend Deca"/>
              </a:rPr>
              <a:t>3. Pricing Strategy Adjustment</a:t>
            </a: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a:solidFill>
                  <a:schemeClr val="tx2"/>
                </a:solidFill>
                <a:latin typeface="Calibri" panose="020F0502020204030204" charset="0"/>
                <a:ea typeface="Lexend Deca"/>
                <a:cs typeface="Calibri" panose="020F0502020204030204" charset="0"/>
                <a:sym typeface="Lexend Deca"/>
              </a:rPr>
              <a:t>Most customers prefer a moderate cost range for dining out as couples.</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2400" b="1">
                <a:solidFill>
                  <a:schemeClr val="tx2"/>
                </a:solidFill>
                <a:latin typeface="Calibri" panose="020F0502020204030204" charset="0"/>
                <a:ea typeface="Lexend Deca"/>
                <a:cs typeface="Calibri" panose="020F0502020204030204" charset="0"/>
                <a:sym typeface="Lexend Deca"/>
              </a:rPr>
              <a:t>Action: </a:t>
            </a:r>
            <a:r>
              <a:rPr lang="en-US" altLang="en-US" sz="2400">
                <a:solidFill>
                  <a:schemeClr val="tx2"/>
                </a:solidFill>
                <a:latin typeface="Calibri" panose="020F0502020204030204" charset="0"/>
                <a:ea typeface="Lexend Deca"/>
                <a:cs typeface="Calibri" panose="020F0502020204030204" charset="0"/>
                <a:sym typeface="Lexend Deca"/>
              </a:rPr>
              <a:t>Adjust pricing strategies to balance affordability and perceived value, ensuring competitive positioning in the market.</a:t>
            </a: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b="1">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Wingdings" panose="05000000000000000000" charset="0"/>
              <a:buChar char="Ø"/>
            </a:pPr>
            <a:r>
              <a:rPr lang="en-US" altLang="en-US" sz="2800" b="1">
                <a:solidFill>
                  <a:schemeClr val="tx2"/>
                </a:solidFill>
                <a:latin typeface="Calibri" panose="020F0502020204030204" charset="0"/>
                <a:ea typeface="Lexend Deca"/>
                <a:cs typeface="Calibri" panose="020F0502020204030204" charset="0"/>
                <a:sym typeface="Lexend Deca"/>
              </a:rPr>
              <a:t>Business Value</a:t>
            </a:r>
            <a:endParaRPr lang="en-US" altLang="en-US" sz="2400" b="1">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r>
              <a:rPr lang="en-US" altLang="en-US" sz="2400">
                <a:solidFill>
                  <a:schemeClr val="tx2"/>
                </a:solidFill>
                <a:latin typeface="Calibri" panose="020F0502020204030204" charset="0"/>
                <a:ea typeface="Lexend Deca"/>
                <a:cs typeface="Calibri" panose="020F0502020204030204" charset="0"/>
                <a:sym typeface="Lexend Deca"/>
              </a:rPr>
              <a:t>Helps Zomato optimize restaurant listings and improve user experience.</a:t>
            </a:r>
            <a:endParaRPr lang="en-US" altLang="en-US" sz="24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r>
              <a:rPr lang="en-US" altLang="en-US" sz="2400">
                <a:solidFill>
                  <a:schemeClr val="tx2"/>
                </a:solidFill>
                <a:latin typeface="Calibri" panose="020F0502020204030204" charset="0"/>
                <a:ea typeface="Lexend Deca"/>
                <a:cs typeface="Calibri" panose="020F0502020204030204" charset="0"/>
                <a:sym typeface="Lexend Deca"/>
              </a:rPr>
              <a:t>These actions can increase customer retention, improve restaurant visibility, and boost overall platform revenue.</a:t>
            </a:r>
            <a:endParaRPr lang="en-US" altLang="en-US" sz="24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E9FF"/>
        </a:solidFill>
        <a:effectLst/>
      </p:bgPr>
    </p:bg>
    <p:spTree>
      <p:nvGrpSpPr>
        <p:cNvPr id="1" name=""/>
        <p:cNvGrpSpPr/>
        <p:nvPr/>
      </p:nvGrpSpPr>
      <p:grpSpPr>
        <a:xfrm>
          <a:off x="0" y="0"/>
          <a:ext cx="0" cy="0"/>
          <a:chOff x="0" y="0"/>
          <a:chExt cx="0" cy="0"/>
        </a:xfrm>
      </p:grpSpPr>
      <p:grpSp>
        <p:nvGrpSpPr>
          <p:cNvPr id="2" name="Group 2"/>
          <p:cNvGrpSpPr/>
          <p:nvPr/>
        </p:nvGrpSpPr>
        <p:grpSpPr>
          <a:xfrm rot="0">
            <a:off x="-93980" y="5080"/>
            <a:ext cx="18439130" cy="1769110"/>
            <a:chOff x="0" y="0"/>
            <a:chExt cx="4356256" cy="1613953"/>
          </a:xfrm>
        </p:grpSpPr>
        <p:sp>
          <p:nvSpPr>
            <p:cNvPr id="3" name="Freeform 3"/>
            <p:cNvSpPr/>
            <p:nvPr/>
          </p:nvSpPr>
          <p:spPr>
            <a:xfrm>
              <a:off x="0" y="0"/>
              <a:ext cx="4356255" cy="1613953"/>
            </a:xfrm>
            <a:custGeom>
              <a:avLst/>
              <a:gdLst/>
              <a:ahLst/>
              <a:cxnLst/>
              <a:rect l="l" t="t" r="r" b="b"/>
              <a:pathLst>
                <a:path w="4356255" h="1613953">
                  <a:moveTo>
                    <a:pt x="0" y="0"/>
                  </a:moveTo>
                  <a:lnTo>
                    <a:pt x="4356255" y="0"/>
                  </a:lnTo>
                  <a:lnTo>
                    <a:pt x="4356255" y="1613953"/>
                  </a:lnTo>
                  <a:lnTo>
                    <a:pt x="0" y="1613953"/>
                  </a:lnTo>
                  <a:close/>
                </a:path>
              </a:pathLst>
            </a:custGeom>
            <a:solidFill>
              <a:srgbClr val="31356E"/>
            </a:solidFill>
          </p:spPr>
        </p:sp>
        <p:sp>
          <p:nvSpPr>
            <p:cNvPr id="4" name="TextBox 4"/>
            <p:cNvSpPr txBox="1"/>
            <p:nvPr/>
          </p:nvSpPr>
          <p:spPr>
            <a:xfrm>
              <a:off x="0" y="-38100"/>
              <a:ext cx="4356256" cy="1652053"/>
            </a:xfrm>
            <a:prstGeom prst="rect">
              <a:avLst/>
            </a:prstGeom>
          </p:spPr>
          <p:txBody>
            <a:bodyPr lIns="50800" tIns="50800" rIns="50800" bIns="50800" rtlCol="0" anchor="ctr"/>
            <a:lstStyle/>
            <a:p>
              <a:pPr algn="ctr">
                <a:lnSpc>
                  <a:spcPts val="2660"/>
                </a:lnSpc>
                <a:spcBef>
                  <a:spcPct val="0"/>
                </a:spcBef>
              </a:pPr>
            </a:p>
          </p:txBody>
        </p:sp>
      </p:grpSp>
      <p:sp>
        <p:nvSpPr>
          <p:cNvPr id="5" name="TextBox 5"/>
          <p:cNvSpPr txBox="1"/>
          <p:nvPr/>
        </p:nvSpPr>
        <p:spPr>
          <a:xfrm>
            <a:off x="-222250" y="182880"/>
            <a:ext cx="17873345" cy="1991360"/>
          </a:xfrm>
          <a:prstGeom prst="rect">
            <a:avLst/>
          </a:prstGeom>
        </p:spPr>
        <p:txBody>
          <a:bodyPr wrap="square" lIns="0" tIns="0" rIns="0" bIns="0" rtlCol="0" anchor="t">
            <a:noAutofit/>
          </a:bodyPr>
          <a:lstStyle/>
          <a:p>
            <a:pPr algn="ctr">
              <a:lnSpc>
                <a:spcPts val="11170"/>
              </a:lnSpc>
            </a:pPr>
            <a:r>
              <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rPr>
              <a:t>Technical Reflection</a:t>
            </a:r>
            <a:endParaRPr lang="en-US" altLang="en-US" sz="96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sp>
        <p:nvSpPr>
          <p:cNvPr id="7" name="TextBox 7"/>
          <p:cNvSpPr txBox="1"/>
          <p:nvPr/>
        </p:nvSpPr>
        <p:spPr>
          <a:xfrm>
            <a:off x="1184275" y="2171700"/>
            <a:ext cx="16270605" cy="7863840"/>
          </a:xfrm>
          <a:prstGeom prst="rect">
            <a:avLst/>
          </a:prstGeom>
        </p:spPr>
        <p:txBody>
          <a:bodyPr wrap="square" lIns="0" tIns="0" rIns="0" bIns="0" rtlCol="0" anchor="t">
            <a:noAutofit/>
          </a:bodyPr>
          <a:lstStyle/>
          <a:p>
            <a:pPr algn="l">
              <a:lnSpc>
                <a:spcPct val="100000"/>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R Libraries Used</a:t>
            </a:r>
            <a:endParaRPr lang="en-US" altLang="en-US" sz="3200" b="1">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dplyr – Efficient data manipulation (filtering, grouping, summarizing).</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ggplot2 – Powerful data visualization for insights (bar charts, boxplots, histograms, heatmaps).</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stringr – Cleaning and formatting text data (e.g., ratings).</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reshape2 – Creating heatmaps for visualizing matrices and comparisons.</a:t>
            </a:r>
            <a:endParaRPr lang="en-US" altLang="en-US" sz="28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Biggest Coding Challenges</a:t>
            </a:r>
            <a:endParaRPr lang="en-US" altLang="en-US" sz="3200" b="1">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Cleaning inconsistent rating formats (e.g., “4.1/5” ).</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Handling missing or null values in multiple columns.</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Visualizing categorical data clearly for meaningful interpretation.</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endParaRPr lang="en-US" altLang="en-US" sz="28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r>
              <a:rPr lang="en-US" altLang="en-US" sz="2800" b="1">
                <a:solidFill>
                  <a:schemeClr val="tx2"/>
                </a:solidFill>
                <a:latin typeface="Calibri" panose="020F0502020204030204" charset="0"/>
                <a:ea typeface="Lexend Deca"/>
                <a:cs typeface="Calibri" panose="020F0502020204030204" charset="0"/>
                <a:sym typeface="Lexend Deca"/>
              </a:rPr>
              <a:t>How We Overcame It</a:t>
            </a:r>
            <a:endParaRPr lang="en-US" altLang="en-US" sz="2800" b="1">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Used string manipulation and type conversion functions in R</a:t>
            </a:r>
            <a:endParaRPr lang="en-US" altLang="en-US" sz="2800">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Performed systematic missing value checks before analysis</a:t>
            </a:r>
            <a:endParaRPr lang="en-US" altLang="en-US" sz="28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r>
              <a:rPr lang="en-US" altLang="en-US" sz="3200" b="1">
                <a:solidFill>
                  <a:schemeClr val="tx2"/>
                </a:solidFill>
                <a:latin typeface="Calibri" panose="020F0502020204030204" charset="0"/>
                <a:ea typeface="Lexend Deca"/>
                <a:cs typeface="Calibri" panose="020F0502020204030204" charset="0"/>
                <a:sym typeface="Lexend Deca"/>
              </a:rPr>
              <a:t>Key Takeaway</a:t>
            </a:r>
            <a:endParaRPr lang="en-US" altLang="en-US" sz="3200" b="1">
              <a:solidFill>
                <a:schemeClr val="tx2"/>
              </a:solidFill>
              <a:latin typeface="Calibri" panose="020F0502020204030204" charset="0"/>
              <a:ea typeface="Lexend Deca"/>
              <a:cs typeface="Calibri" panose="020F0502020204030204" charset="0"/>
              <a:sym typeface="Lexend Deca"/>
            </a:endParaRPr>
          </a:p>
          <a:p>
            <a:pPr marL="457200" indent="-457200" algn="l">
              <a:lnSpc>
                <a:spcPct val="100000"/>
              </a:lnSpc>
              <a:spcBef>
                <a:spcPct val="0"/>
              </a:spcBef>
              <a:buFont typeface="Arial" panose="020B0604020202020204" pitchFamily="34" charset="0"/>
              <a:buChar char="•"/>
            </a:pPr>
            <a:r>
              <a:rPr lang="en-US" altLang="en-US" sz="2800">
                <a:solidFill>
                  <a:schemeClr val="tx2"/>
                </a:solidFill>
                <a:latin typeface="Calibri" panose="020F0502020204030204" charset="0"/>
                <a:ea typeface="Lexend Deca"/>
                <a:cs typeface="Calibri" panose="020F0502020204030204" charset="0"/>
                <a:sym typeface="Lexend Deca"/>
              </a:rPr>
              <a:t>Overcoming these challenges helped us prepare clean, reliable data and create visualizations that effectively communicate insights.</a:t>
            </a:r>
            <a:endParaRPr lang="en-US" altLang="en-US" sz="28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indent="0" algn="l">
              <a:lnSpc>
                <a:spcPct val="100000"/>
              </a:lnSpc>
              <a:spcBef>
                <a:spcPct val="0"/>
              </a:spcBef>
              <a:buNone/>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400">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a:p>
            <a:pPr algn="l">
              <a:lnSpc>
                <a:spcPct val="100000"/>
              </a:lnSpc>
              <a:spcBef>
                <a:spcPct val="0"/>
              </a:spcBef>
            </a:pPr>
            <a:endParaRPr lang="en-US" altLang="en-US" sz="2800" b="1">
              <a:solidFill>
                <a:schemeClr val="tx2"/>
              </a:solidFill>
              <a:latin typeface="Calibri" panose="020F0502020204030204" charset="0"/>
              <a:ea typeface="Lexend Deca"/>
              <a:cs typeface="Calibri" panose="020F0502020204030204" charset="0"/>
              <a:sym typeface="Lexend Dec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1356E"/>
        </a:solidFill>
        <a:effectLst/>
      </p:bgPr>
    </p:bg>
    <p:spTree>
      <p:nvGrpSpPr>
        <p:cNvPr id="1" name=""/>
        <p:cNvGrpSpPr/>
        <p:nvPr/>
      </p:nvGrpSpPr>
      <p:grpSpPr>
        <a:xfrm>
          <a:off x="0" y="0"/>
          <a:ext cx="0" cy="0"/>
          <a:chOff x="0" y="0"/>
          <a:chExt cx="0" cy="0"/>
        </a:xfrm>
      </p:grpSpPr>
      <p:sp>
        <p:nvSpPr>
          <p:cNvPr id="2" name="TextBox 2"/>
          <p:cNvSpPr txBox="1"/>
          <p:nvPr/>
        </p:nvSpPr>
        <p:spPr>
          <a:xfrm>
            <a:off x="6096000" y="3543300"/>
            <a:ext cx="10149205" cy="1251585"/>
          </a:xfrm>
          <a:prstGeom prst="rect">
            <a:avLst/>
          </a:prstGeom>
        </p:spPr>
        <p:txBody>
          <a:bodyPr lIns="0" tIns="0" rIns="0" bIns="0" rtlCol="0" anchor="t">
            <a:noAutofit/>
          </a:bodyPr>
          <a:lstStyle/>
          <a:p>
            <a:pPr algn="ctr">
              <a:lnSpc>
                <a:spcPts val="9755"/>
              </a:lnSpc>
            </a:pPr>
            <a:r>
              <a:rPr lang="en-US" sz="13800">
                <a:solidFill>
                  <a:schemeClr val="bg1"/>
                </a:solidFill>
                <a:latin typeface="Futura Display" panose="020B0504050904050C04"/>
                <a:ea typeface="Futura Display" panose="020B0504050904050C04"/>
                <a:cs typeface="Futura Display" panose="020B0504050904050C04"/>
                <a:sym typeface="Futura Display" panose="020B0504050904050C04"/>
              </a:rPr>
              <a:t>THANK </a:t>
            </a:r>
            <a:r>
              <a:rPr lang="en-US" sz="13800">
                <a:solidFill>
                  <a:srgbClr val="FFFFFF"/>
                </a:solidFill>
                <a:latin typeface="Futura Display" panose="020B0504050904050C04"/>
                <a:ea typeface="Futura Display" panose="020B0504050904050C04"/>
                <a:cs typeface="Futura Display" panose="020B0504050904050C04"/>
                <a:sym typeface="Futura Display" panose="020B0504050904050C04"/>
              </a:rPr>
              <a:t>YOU !</a:t>
            </a:r>
            <a:endParaRPr lang="en-US" sz="13800">
              <a:solidFill>
                <a:srgbClr val="FFFFFF"/>
              </a:solidFill>
              <a:latin typeface="Futura Display" panose="020B0504050904050C04"/>
              <a:ea typeface="Futura Display" panose="020B0504050904050C04"/>
              <a:cs typeface="Futura Display" panose="020B0504050904050C04"/>
              <a:sym typeface="Futura Display" panose="020B0504050904050C04"/>
            </a:endParaRPr>
          </a:p>
        </p:txBody>
      </p:sp>
      <p:pic>
        <p:nvPicPr>
          <p:cNvPr id="3" name="Picture 3"/>
          <p:cNvPicPr>
            <a:picLocks noChangeAspect="1"/>
          </p:cNvPicPr>
          <p:nvPr/>
        </p:nvPicPr>
        <p:blipFill>
          <a:blip r:embed="rId1">
            <a:duotone>
              <a:schemeClr val="accent5">
                <a:shade val="45000"/>
                <a:satMod val="135000"/>
              </a:schemeClr>
              <a:prstClr val="white"/>
            </a:duotone>
          </a:blip>
          <a:stretch>
            <a:fillRect/>
          </a:stretch>
        </p:blipFill>
        <p:spPr>
          <a:xfrm>
            <a:off x="-2133600" y="-1714500"/>
            <a:ext cx="13157200" cy="13150215"/>
          </a:xfrm>
          <a:prstGeom prst="rect">
            <a:avLst/>
          </a:prstGeom>
        </p:spPr>
      </p:pic>
      <p:sp>
        <p:nvSpPr>
          <p:cNvPr id="4" name="Text Box 3"/>
          <p:cNvSpPr txBox="1"/>
          <p:nvPr/>
        </p:nvSpPr>
        <p:spPr>
          <a:xfrm>
            <a:off x="4070350" y="6551295"/>
            <a:ext cx="14261465" cy="583565"/>
          </a:xfrm>
          <a:prstGeom prst="rect">
            <a:avLst/>
          </a:prstGeom>
          <a:noFill/>
        </p:spPr>
        <p:txBody>
          <a:bodyPr wrap="square" rtlCol="0">
            <a:spAutoFit/>
          </a:bodyPr>
          <a:p>
            <a:r>
              <a:rPr lang="en-US" altLang="en-US" sz="3200">
                <a:solidFill>
                  <a:schemeClr val="bg1"/>
                </a:solidFill>
                <a:hlinkClick r:id="rId2" tooltip="" action="ppaction://hlinkfile">
                  <a:extLst>
                    <a:ext uri="{DAF060AB-1E55-43B9-8AAB-6FB025537F2F}">
                      <wpsdc:hlinkClr xmlns:wpsdc="http://www.wps.cn/officeDocument/2017/drawingmlCustomData" val="93CDDD"/>
                      <wpsdc:folHlinkClr xmlns:wpsdc="http://www.wps.cn/officeDocument/2017/drawingmlCustomData" val="FFFFFF"/>
                      <wpsdc:hlinkUnderline xmlns:wpsdc="http://www.wps.cn/officeDocument/2017/drawingmlCustomData" val="1"/>
                    </a:ext>
                  </a:extLst>
                </a:hlinkClick>
              </a:rPr>
              <a:t>https://github.com/asiya142005/DataScience_Project_Zomato_Data_Analysis</a:t>
            </a:r>
            <a:endParaRPr lang="en-US" altLang="en-US" sz="3200">
              <a:solidFill>
                <a:schemeClr val="bg1"/>
              </a:solidFill>
            </a:endParaRPr>
          </a:p>
        </p:txBody>
      </p:sp>
      <p:sp>
        <p:nvSpPr>
          <p:cNvPr id="5" name="Text Box 4"/>
          <p:cNvSpPr txBox="1"/>
          <p:nvPr/>
        </p:nvSpPr>
        <p:spPr>
          <a:xfrm>
            <a:off x="4070350" y="5829300"/>
            <a:ext cx="6096000" cy="645160"/>
          </a:xfrm>
          <a:prstGeom prst="rect">
            <a:avLst/>
          </a:prstGeom>
          <a:noFill/>
        </p:spPr>
        <p:txBody>
          <a:bodyPr wrap="square" rtlCol="0">
            <a:spAutoFit/>
          </a:bodyPr>
          <a:p>
            <a:r>
              <a:rPr lang="en-US" altLang="en-US" sz="3600" b="1">
                <a:solidFill>
                  <a:schemeClr val="bg1"/>
                </a:solidFill>
              </a:rPr>
              <a:t>GitHub Repository:</a:t>
            </a:r>
            <a:endParaRPr lang="en-US" altLang="en-US" sz="3600" b="1">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8544</Words>
  <Application>WPS Presentation</Application>
  <PresentationFormat>On-screen Show (4:3)</PresentationFormat>
  <Paragraphs>295</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Futura Display</vt:lpstr>
      <vt:lpstr>Lexend Deca</vt:lpstr>
      <vt:lpstr>Calibri</vt:lpstr>
      <vt:lpstr>Microsoft YaHei</vt:lpstr>
      <vt:lpstr>Arial Unicode MS</vt:lpstr>
      <vt:lpstr>Wingdings</vt:lpstr>
      <vt:lpstr>Times New Roman</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Representing Data Presentation</dc:title>
  <dc:creator/>
  <cp:lastModifiedBy>asiya charolia</cp:lastModifiedBy>
  <cp:revision>14</cp:revision>
  <dcterms:created xsi:type="dcterms:W3CDTF">2006-08-16T00:00:00Z</dcterms:created>
  <dcterms:modified xsi:type="dcterms:W3CDTF">2026-01-04T15:30:56Z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AB3BCC15B9994009BFB37C6A109812B1_13</vt:lpwstr>
  </property>
  <property fmtid="{D5CDD505-2E9C-101B-9397-08002B2CF9AE}" pid="3" name="KSOProductBuildVer">
    <vt:lpwstr>1033-12.2.0.23196</vt:lpwstr>
  </property>
</Properties>
</file>